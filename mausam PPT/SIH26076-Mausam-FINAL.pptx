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841480" y="6035040"/>
            <a:ext cx="100" cy="100"/>
          </a:xfrm>
        </p:spPr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1841480" y="6035040"/>
            <a:ext cx="100" cy="100"/>
          </a:xfrm>
        </p:spPr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841480" y="6035040"/>
            <a:ext cx="100" cy="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kicker"/>
          <p:cNvSpPr>
            <a:spLocks noChangeAspect="0"/>
          </p:cNvSpPr>
          <p:nvPr/>
        </p:nvSpPr>
        <p:spPr>
          <a:xfrm>
            <a:off x="612648" y="1225296"/>
            <a:ext cx="10963656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16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40" name="headline"/>
          <p:cNvSpPr>
            <a:spLocks noChangeAspect="0"/>
          </p:cNvSpPr>
          <p:nvPr/>
        </p:nvSpPr>
        <p:spPr>
          <a:xfrm>
            <a:off x="612648" y="1499616"/>
            <a:ext cx="9144000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3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Mausam home: actions with proof</a:t>
            </a:r>
          </a:p>
        </p:txBody>
      </p:sp>
      <p:sp>
        <p:nvSpPr>
          <p:cNvPr id="41" name="accent"/>
          <p:cNvSpPr>
            <a:spLocks noChangeAspect="0"/>
          </p:cNvSpPr>
          <p:nvPr/>
        </p:nvSpPr>
        <p:spPr>
          <a:xfrm>
            <a:off x="612648" y="2249424"/>
            <a:ext cx="1463040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42" name="card"/>
          <p:cNvSpPr>
            <a:spLocks noChangeAspect="0"/>
          </p:cNvSpPr>
          <p:nvPr/>
        </p:nvSpPr>
        <p:spPr>
          <a:xfrm>
            <a:off x="612648" y="2487168"/>
            <a:ext cx="10963656" cy="2615184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43" name="text"/>
          <p:cNvSpPr>
            <a:spLocks noChangeAspect="0"/>
          </p:cNvSpPr>
          <p:nvPr/>
        </p:nvSpPr>
        <p:spPr>
          <a:xfrm>
            <a:off x="868680" y="2688336"/>
            <a:ext cx="10451592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Problem Statement Title-</a:t>
            </a:r>
          </a:p>
        </p:txBody>
      </p:sp>
      <p:sp>
        <p:nvSpPr>
          <p:cNvPr id="44" name="text"/>
          <p:cNvSpPr>
            <a:spLocks noChangeAspect="0"/>
          </p:cNvSpPr>
          <p:nvPr/>
        </p:nvSpPr>
        <p:spPr>
          <a:xfrm>
            <a:off x="868680" y="2889504"/>
            <a:ext cx="10451592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7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Personalised homepage for the 'Mausam' mobile application</a:t>
            </a:r>
          </a:p>
        </p:txBody>
      </p:sp>
      <p:sp>
        <p:nvSpPr>
          <p:cNvPr id="45" name="rule"/>
          <p:cNvSpPr>
            <a:spLocks noChangeAspect="0"/>
          </p:cNvSpPr>
          <p:nvPr/>
        </p:nvSpPr>
        <p:spPr>
          <a:xfrm>
            <a:off x="868680" y="3419856"/>
            <a:ext cx="10451592" cy="10973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46" name="text"/>
          <p:cNvSpPr>
            <a:spLocks noChangeAspect="0"/>
          </p:cNvSpPr>
          <p:nvPr/>
        </p:nvSpPr>
        <p:spPr>
          <a:xfrm>
            <a:off x="868680" y="356616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Problem Statement ID –</a:t>
            </a:r>
          </a:p>
        </p:txBody>
      </p:sp>
      <p:sp>
        <p:nvSpPr>
          <p:cNvPr id="47" name="text"/>
          <p:cNvSpPr>
            <a:spLocks noChangeAspect="0"/>
          </p:cNvSpPr>
          <p:nvPr/>
        </p:nvSpPr>
        <p:spPr>
          <a:xfrm>
            <a:off x="868680" y="374904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SIH26076</a:t>
            </a:r>
          </a:p>
        </p:txBody>
      </p:sp>
      <p:sp>
        <p:nvSpPr>
          <p:cNvPr id="48" name="text"/>
          <p:cNvSpPr>
            <a:spLocks noChangeAspect="0"/>
          </p:cNvSpPr>
          <p:nvPr/>
        </p:nvSpPr>
        <p:spPr>
          <a:xfrm>
            <a:off x="4352544" y="356616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Theme-</a:t>
            </a:r>
          </a:p>
        </p:txBody>
      </p:sp>
      <p:sp>
        <p:nvSpPr>
          <p:cNvPr id="49" name="text"/>
          <p:cNvSpPr>
            <a:spLocks noChangeAspect="0"/>
          </p:cNvSpPr>
          <p:nvPr/>
        </p:nvSpPr>
        <p:spPr>
          <a:xfrm>
            <a:off x="4352544" y="374904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Smart Automation</a:t>
            </a:r>
          </a:p>
        </p:txBody>
      </p:sp>
      <p:sp>
        <p:nvSpPr>
          <p:cNvPr id="50" name="text"/>
          <p:cNvSpPr>
            <a:spLocks noChangeAspect="0"/>
          </p:cNvSpPr>
          <p:nvPr/>
        </p:nvSpPr>
        <p:spPr>
          <a:xfrm>
            <a:off x="7836408" y="356616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PS Category- Software/Hardware</a:t>
            </a:r>
          </a:p>
        </p:txBody>
      </p:sp>
      <p:sp>
        <p:nvSpPr>
          <p:cNvPr id="51" name="text"/>
          <p:cNvSpPr>
            <a:spLocks noChangeAspect="0"/>
          </p:cNvSpPr>
          <p:nvPr/>
        </p:nvSpPr>
        <p:spPr>
          <a:xfrm>
            <a:off x="7836408" y="374904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52" name="text"/>
          <p:cNvSpPr>
            <a:spLocks noChangeAspect="0"/>
          </p:cNvSpPr>
          <p:nvPr/>
        </p:nvSpPr>
        <p:spPr>
          <a:xfrm>
            <a:off x="868680" y="42062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Team ID-</a:t>
            </a:r>
          </a:p>
        </p:txBody>
      </p:sp>
      <p:sp>
        <p:nvSpPr>
          <p:cNvPr id="53" name="text"/>
          <p:cNvSpPr>
            <a:spLocks noChangeAspect="0"/>
          </p:cNvSpPr>
          <p:nvPr/>
        </p:nvSpPr>
        <p:spPr>
          <a:xfrm>
            <a:off x="868680" y="438912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195697</a:t>
            </a:r>
          </a:p>
        </p:txBody>
      </p:sp>
      <p:sp>
        <p:nvSpPr>
          <p:cNvPr id="54" name="text"/>
          <p:cNvSpPr>
            <a:spLocks noChangeAspect="0"/>
          </p:cNvSpPr>
          <p:nvPr/>
        </p:nvSpPr>
        <p:spPr>
          <a:xfrm>
            <a:off x="4352544" y="42062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Team Name (Registered on portal)</a:t>
            </a:r>
          </a:p>
        </p:txBody>
      </p:sp>
      <p:sp>
        <p:nvSpPr>
          <p:cNvPr id="55" name="text"/>
          <p:cNvSpPr>
            <a:spLocks noChangeAspect="0"/>
          </p:cNvSpPr>
          <p:nvPr/>
        </p:nvSpPr>
        <p:spPr>
          <a:xfrm>
            <a:off x="4352544" y="438912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Zencoderss</a:t>
            </a:r>
          </a:p>
        </p:txBody>
      </p:sp>
      <p:sp>
        <p:nvSpPr>
          <p:cNvPr id="56" name="text"/>
          <p:cNvSpPr>
            <a:spLocks noChangeAspect="0"/>
          </p:cNvSpPr>
          <p:nvPr/>
        </p:nvSpPr>
        <p:spPr>
          <a:xfrm>
            <a:off x="7836408" y="42062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Organisation</a:t>
            </a:r>
          </a:p>
        </p:txBody>
      </p:sp>
      <p:sp>
        <p:nvSpPr>
          <p:cNvPr id="57" name="text"/>
          <p:cNvSpPr>
            <a:spLocks noChangeAspect="0"/>
          </p:cNvSpPr>
          <p:nvPr/>
        </p:nvSpPr>
        <p:spPr>
          <a:xfrm>
            <a:off x="7836408" y="438912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14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Ministry of Earth Sciences (IMD)</a:t>
            </a:r>
          </a:p>
        </p:txBody>
      </p:sp>
      <p:sp>
        <p:nvSpPr>
          <p:cNvPr id="58" name="rule"/>
          <p:cNvSpPr>
            <a:spLocks noChangeAspect="0"/>
          </p:cNvSpPr>
          <p:nvPr/>
        </p:nvSpPr>
        <p:spPr>
          <a:xfrm>
            <a:off x="612648" y="5193792"/>
            <a:ext cx="10963656" cy="10973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59" name="text"/>
          <p:cNvSpPr>
            <a:spLocks noChangeAspect="0"/>
          </p:cNvSpPr>
          <p:nvPr/>
        </p:nvSpPr>
        <p:spPr>
          <a:xfrm>
            <a:off x="612648" y="5340096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3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Every number shows its source, station, issue time and age. Every advisory can be re-derived by hand.</a:t>
            </a:r>
          </a:p>
        </p:txBody>
      </p:sp>
      <p:pic>
        <p:nvPicPr>
          <p:cNvPr id="60" name="demoqr"/>
          <p:cNvPicPr/>
        </p:nvPicPr>
        <p:blipFill>
          <a:blip r:embed="rId4"/>
          <a:stretch>
            <a:fillRect/>
          </a:stretch>
        </p:blipFill>
        <p:spPr>
          <a:xfrm>
            <a:off x="612648" y="5779008"/>
            <a:ext cx="566928" cy="566928"/>
          </a:xfrm>
          <a:prstGeom prst="rect">
            <a:avLst/>
          </a:prstGeom>
          <a:noFill/>
          <a:ln w="9525">
            <a:solidFill>
              <a:srgbClr val="D8DEE4"/>
            </a:solidFill>
          </a:ln>
        </p:spPr>
      </p:pic>
      <p:sp>
        <p:nvSpPr>
          <p:cNvPr id="61" name="text"/>
          <p:cNvSpPr>
            <a:spLocks noChangeAspect="0"/>
          </p:cNvSpPr>
          <p:nvPr/>
        </p:nvSpPr>
        <p:spPr>
          <a:xfrm>
            <a:off x="1344168" y="5797296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LIVE DEMO   </a:t>
            </a:r>
            <a:r>
              <a:rPr lang="en-US" sz="950" b="1" u="sng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https://mausam-sih26076-devanshdhangar70-7520s-projects.vercel.app/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Guest-first PWA · works offline · English and Hindi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841480" y="6035040"/>
            <a:ext cx="100" cy="100"/>
          </a:xfrm>
        </p:spPr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841480" y="6035040"/>
            <a:ext cx="100" cy="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83080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C7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B3C7A"/>
                </a:solidFill>
              </a:rPr>
              <a:t>Zencoderss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kicker"/>
          <p:cNvSpPr>
            <a:spLocks noChangeAspect="0"/>
          </p:cNvSpPr>
          <p:nvPr/>
        </p:nvSpPr>
        <p:spPr>
          <a:xfrm>
            <a:off x="612648" y="1097280"/>
            <a:ext cx="10963656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16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THE IDEA</a:t>
            </a:r>
          </a:p>
        </p:txBody>
      </p:sp>
      <p:sp>
        <p:nvSpPr>
          <p:cNvPr id="15365" name="headline"/>
          <p:cNvSpPr>
            <a:spLocks noChangeAspect="0"/>
          </p:cNvSpPr>
          <p:nvPr/>
        </p:nvSpPr>
        <p:spPr>
          <a:xfrm>
            <a:off x="612648" y="1335024"/>
            <a:ext cx="10963656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26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One home screen that adapts to you — and shows its work</a:t>
            </a:r>
          </a:p>
        </p:txBody>
      </p:sp>
      <p:sp>
        <p:nvSpPr>
          <p:cNvPr id="15366" name="rule"/>
          <p:cNvSpPr>
            <a:spLocks noChangeAspect="0"/>
          </p:cNvSpPr>
          <p:nvPr/>
        </p:nvSpPr>
        <p:spPr>
          <a:xfrm>
            <a:off x="612648" y="1883664"/>
            <a:ext cx="10963656" cy="20117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67" name="text"/>
          <p:cNvSpPr>
            <a:spLocks noChangeAspect="0"/>
          </p:cNvSpPr>
          <p:nvPr/>
        </p:nvSpPr>
        <p:spPr>
          <a:xfrm>
            <a:off x="612648" y="2011680"/>
            <a:ext cx="10963656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Mausam home shows a number with no context: no station, no issue time, no age — so advice is trusted or ignored at random.</a:t>
            </a:r>
          </a:p>
        </p:txBody>
      </p:sp>
      <p:sp>
        <p:nvSpPr>
          <p:cNvPr id="15368" name="card"/>
          <p:cNvSpPr>
            <a:spLocks noChangeAspect="0"/>
          </p:cNvSpPr>
          <p:nvPr/>
        </p:nvSpPr>
        <p:spPr>
          <a:xfrm>
            <a:off x="612648" y="2432304"/>
            <a:ext cx="3544824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80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WHO IT AFFECTS</a:t>
            </a:r>
          </a:p>
          <a:p>
            <a:pPr algn="l">
              <a:lnSpc>
                <a:spcPct val="108000"/>
              </a:lnSpc>
            </a:pPr>
            <a:r>
              <a:rPr lang="en-US" sz="10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Commuters in fog, farmers at sowing, parents in a heat wave — anyone reading one number and acting on it.</a:t>
            </a:r>
          </a:p>
        </p:txBody>
      </p:sp>
      <p:sp>
        <p:nvSpPr>
          <p:cNvPr id="15369" name="accent"/>
          <p:cNvSpPr>
            <a:spLocks noChangeAspect="0"/>
          </p:cNvSpPr>
          <p:nvPr/>
        </p:nvSpPr>
        <p:spPr>
          <a:xfrm>
            <a:off x="612648" y="2432304"/>
            <a:ext cx="45720" cy="841248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70" name="card"/>
          <p:cNvSpPr>
            <a:spLocks noChangeAspect="0"/>
          </p:cNvSpPr>
          <p:nvPr/>
        </p:nvSpPr>
        <p:spPr>
          <a:xfrm>
            <a:off x="4322064" y="2432304"/>
            <a:ext cx="3544824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80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WHAT'S BROKEN TODAY</a:t>
            </a:r>
          </a:p>
          <a:p>
            <a:pPr algn="l">
              <a:lnSpc>
                <a:spcPct val="108000"/>
              </a:lnSpc>
            </a:pPr>
            <a:r>
              <a:rPr lang="en-US" sz="10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one-size homepage: readings shown without source, station, issue time or age.</a:t>
            </a:r>
          </a:p>
        </p:txBody>
      </p:sp>
      <p:sp>
        <p:nvSpPr>
          <p:cNvPr id="15371" name="accent"/>
          <p:cNvSpPr>
            <a:spLocks noChangeAspect="0"/>
          </p:cNvSpPr>
          <p:nvPr/>
        </p:nvSpPr>
        <p:spPr>
          <a:xfrm>
            <a:off x="4322064" y="2432304"/>
            <a:ext cx="45720" cy="841248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72" name="card"/>
          <p:cNvSpPr>
            <a:spLocks noChangeAspect="0"/>
          </p:cNvSpPr>
          <p:nvPr/>
        </p:nvSpPr>
        <p:spPr>
          <a:xfrm>
            <a:off x="8031480" y="2432304"/>
            <a:ext cx="3544824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80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algn="l">
              <a:lnSpc>
                <a:spcPct val="108000"/>
              </a:lnSpc>
            </a:pPr>
            <a:r>
              <a:rPr lang="en-US" sz="10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wrong-day sowing or a late departure costs money and safety — and the app cannot be questioned.</a:t>
            </a:r>
          </a:p>
        </p:txBody>
      </p:sp>
      <p:sp>
        <p:nvSpPr>
          <p:cNvPr id="15373" name="accent"/>
          <p:cNvSpPr>
            <a:spLocks noChangeAspect="0"/>
          </p:cNvSpPr>
          <p:nvPr/>
        </p:nvSpPr>
        <p:spPr>
          <a:xfrm>
            <a:off x="8031480" y="2432304"/>
            <a:ext cx="45720" cy="841248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74" name="card"/>
          <p:cNvSpPr>
            <a:spLocks noChangeAspect="0"/>
          </p:cNvSpPr>
          <p:nvPr/>
        </p:nvSpPr>
        <p:spPr>
          <a:xfrm>
            <a:off x="612648" y="3429000"/>
            <a:ext cx="5394960" cy="1133856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750" b="1" spc="8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</a:p>
          <a:p>
            <a:pPr algn="l">
              <a:lnSpc>
                <a:spcPct val="112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home screen that adapts to you: map on top, action cards below.</a:t>
            </a:r>
          </a:p>
        </p:txBody>
      </p:sp>
      <p:sp>
        <p:nvSpPr>
          <p:cNvPr id="15375" name="accent"/>
          <p:cNvSpPr>
            <a:spLocks noChangeAspect="0"/>
          </p:cNvSpPr>
          <p:nvPr/>
        </p:nvSpPr>
        <p:spPr>
          <a:xfrm>
            <a:off x="612648" y="3429000"/>
            <a:ext cx="45720" cy="1133856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76" name="card"/>
          <p:cNvSpPr>
            <a:spLocks noChangeAspect="0"/>
          </p:cNvSpPr>
          <p:nvPr/>
        </p:nvSpPr>
        <p:spPr>
          <a:xfrm>
            <a:off x="6181344" y="3429000"/>
            <a:ext cx="5394960" cy="1133856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750" b="1" spc="8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Detailed explanation of the proposed solution</a:t>
            </a:r>
          </a:p>
          <a:p>
            <a:pPr algn="l">
              <a:lnSpc>
                <a:spcPct val="112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Onboarding picks your persona; the home reorders — the farmer sees sowing first, the commuter sees fog first.</a:t>
            </a:r>
          </a:p>
        </p:txBody>
      </p:sp>
      <p:sp>
        <p:nvSpPr>
          <p:cNvPr id="15377" name="accent"/>
          <p:cNvSpPr>
            <a:spLocks noChangeAspect="0"/>
          </p:cNvSpPr>
          <p:nvPr/>
        </p:nvSpPr>
        <p:spPr>
          <a:xfrm>
            <a:off x="6181344" y="3429000"/>
            <a:ext cx="45720" cy="1133856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78" name="card"/>
          <p:cNvSpPr>
            <a:spLocks noChangeAspect="0"/>
          </p:cNvSpPr>
          <p:nvPr/>
        </p:nvSpPr>
        <p:spPr>
          <a:xfrm>
            <a:off x="612648" y="4709160"/>
            <a:ext cx="5394960" cy="1133856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750" b="1" spc="8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 How it addresses the problem</a:t>
            </a:r>
          </a:p>
          <a:p>
            <a:pPr algn="l">
              <a:lnSpc>
                <a:spcPct val="112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Every card says what to do and shows the readings behind it: source, station, issue time and age.</a:t>
            </a:r>
          </a:p>
        </p:txBody>
      </p:sp>
      <p:sp>
        <p:nvSpPr>
          <p:cNvPr id="15379" name="accent"/>
          <p:cNvSpPr>
            <a:spLocks noChangeAspect="0"/>
          </p:cNvSpPr>
          <p:nvPr/>
        </p:nvSpPr>
        <p:spPr>
          <a:xfrm>
            <a:off x="612648" y="4709160"/>
            <a:ext cx="45720" cy="1133856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5380" name="card"/>
          <p:cNvSpPr>
            <a:spLocks noChangeAspect="0"/>
          </p:cNvSpPr>
          <p:nvPr/>
        </p:nvSpPr>
        <p:spPr>
          <a:xfrm>
            <a:off x="6181344" y="4709160"/>
            <a:ext cx="5394960" cy="1133856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750" b="1" spc="8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Innovation and uniqueness of the solution </a:t>
            </a:r>
          </a:p>
          <a:p>
            <a:pPr algn="l">
              <a:lnSpc>
                <a:spcPct val="112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Source on every number · replayable advice · honest gap cards · a grounded bot that never invents figures.</a:t>
            </a:r>
          </a:p>
        </p:txBody>
      </p:sp>
      <p:sp>
        <p:nvSpPr>
          <p:cNvPr id="15381" name="accent"/>
          <p:cNvSpPr>
            <a:spLocks noChangeAspect="0"/>
          </p:cNvSpPr>
          <p:nvPr/>
        </p:nvSpPr>
        <p:spPr>
          <a:xfrm>
            <a:off x="6181344" y="4709160"/>
            <a:ext cx="45720" cy="1133856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841480" y="6035040"/>
            <a:ext cx="100" cy="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83080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C7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B3C7A"/>
                </a:solidFill>
              </a:rPr>
              <a:t>Zencoderss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kicker"/>
          <p:cNvSpPr>
            <a:spLocks noChangeAspect="0"/>
          </p:cNvSpPr>
          <p:nvPr/>
        </p:nvSpPr>
        <p:spPr>
          <a:xfrm>
            <a:off x="612648" y="1097280"/>
            <a:ext cx="10963656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16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17413" name="headline"/>
          <p:cNvSpPr>
            <a:spLocks noChangeAspect="0"/>
          </p:cNvSpPr>
          <p:nvPr/>
        </p:nvSpPr>
        <p:spPr>
          <a:xfrm>
            <a:off x="612648" y="1335024"/>
            <a:ext cx="10963656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26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IMD data in, verified decisions out</a:t>
            </a:r>
          </a:p>
        </p:txBody>
      </p:sp>
      <p:sp>
        <p:nvSpPr>
          <p:cNvPr id="17414" name="rule"/>
          <p:cNvSpPr>
            <a:spLocks noChangeAspect="0"/>
          </p:cNvSpPr>
          <p:nvPr/>
        </p:nvSpPr>
        <p:spPr>
          <a:xfrm>
            <a:off x="612648" y="1883664"/>
            <a:ext cx="10963656" cy="20117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5" name="text"/>
          <p:cNvSpPr>
            <a:spLocks noChangeAspect="0"/>
          </p:cNvSpPr>
          <p:nvPr/>
        </p:nvSpPr>
        <p:spPr>
          <a:xfrm>
            <a:off x="612648" y="2011680"/>
            <a:ext cx="6766560" cy="47548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13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One deterministic pipeline: IMD keyed APIs → engine → decision stack, every value carrying its source, station, issue time and age.</a:t>
            </a:r>
          </a:p>
        </p:txBody>
      </p:sp>
      <p:sp>
        <p:nvSpPr>
          <p:cNvPr id="17416" name="card"/>
          <p:cNvSpPr>
            <a:spLocks noChangeAspect="0"/>
          </p:cNvSpPr>
          <p:nvPr/>
        </p:nvSpPr>
        <p:spPr>
          <a:xfrm>
            <a:off x="612648" y="2596896"/>
            <a:ext cx="14584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 lIns="91440" rIns="91440" tIns="45720" bIns="45720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9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IMD INPUT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28 keyed APIs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WFS · CAP feed</a:t>
            </a:r>
          </a:p>
        </p:txBody>
      </p:sp>
      <p:sp>
        <p:nvSpPr>
          <p:cNvPr id="17417" name="arr"/>
          <p:cNvSpPr>
            <a:spLocks noChangeAspect="0"/>
          </p:cNvSpPr>
          <p:nvPr/>
        </p:nvSpPr>
        <p:spPr>
          <a:xfrm>
            <a:off x="2107692" y="2944368"/>
            <a:ext cx="237744" cy="219456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txBody>
          <a:bodyPr anchor="ctr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8" name="card"/>
          <p:cNvSpPr>
            <a:spLocks noChangeAspect="0"/>
          </p:cNvSpPr>
          <p:nvPr/>
        </p:nvSpPr>
        <p:spPr>
          <a:xfrm>
            <a:off x="2382012" y="2596896"/>
            <a:ext cx="14584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0B3C7A"/>
            </a:solidFill>
          </a:ln>
        </p:spPr>
        <p:txBody>
          <a:bodyPr anchor="ctr" wrap="square" lIns="91440" rIns="91440" tIns="45720" bIns="45720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9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GATEWAY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static IP host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key + hourly JWT</a:t>
            </a:r>
          </a:p>
        </p:txBody>
      </p:sp>
      <p:sp>
        <p:nvSpPr>
          <p:cNvPr id="17419" name="arr"/>
          <p:cNvSpPr>
            <a:spLocks noChangeAspect="0"/>
          </p:cNvSpPr>
          <p:nvPr/>
        </p:nvSpPr>
        <p:spPr>
          <a:xfrm>
            <a:off x="3877056" y="2944368"/>
            <a:ext cx="237744" cy="219456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txBody>
          <a:bodyPr anchor="ctr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0" name="card"/>
          <p:cNvSpPr>
            <a:spLocks noChangeAspect="0"/>
          </p:cNvSpPr>
          <p:nvPr/>
        </p:nvSpPr>
        <p:spPr>
          <a:xfrm>
            <a:off x="4151376" y="2596896"/>
            <a:ext cx="14584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 lIns="91440" rIns="91440" tIns="45720" bIns="45720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9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ENGINE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rules · replay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labelled adapters</a:t>
            </a:r>
          </a:p>
        </p:txBody>
      </p:sp>
      <p:sp>
        <p:nvSpPr>
          <p:cNvPr id="17421" name="arr"/>
          <p:cNvSpPr>
            <a:spLocks noChangeAspect="0"/>
          </p:cNvSpPr>
          <p:nvPr/>
        </p:nvSpPr>
        <p:spPr>
          <a:xfrm>
            <a:off x="5646420" y="2944368"/>
            <a:ext cx="237744" cy="219456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txBody>
          <a:bodyPr anchor="ctr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2" name="card"/>
          <p:cNvSpPr>
            <a:spLocks noChangeAspect="0"/>
          </p:cNvSpPr>
          <p:nvPr/>
        </p:nvSpPr>
        <p:spPr>
          <a:xfrm>
            <a:off x="5920740" y="2596896"/>
            <a:ext cx="14584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 lIns="91440" rIns="91440" tIns="45720" bIns="45720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9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HOMEPAGE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PWA · EN/HI</a:t>
            </a:r>
          </a:p>
          <a:p>
            <a:pPr algn="ctr">
              <a:lnSpc>
                <a:spcPct val="104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offline shell</a:t>
            </a:r>
          </a:p>
        </p:txBody>
      </p:sp>
      <p:sp>
        <p:nvSpPr>
          <p:cNvPr id="17423" name="text"/>
          <p:cNvSpPr>
            <a:spLocks noChangeAspect="0"/>
          </p:cNvSpPr>
          <p:nvPr/>
        </p:nvSpPr>
        <p:spPr>
          <a:xfrm>
            <a:off x="2382012" y="3547872"/>
            <a:ext cx="1458468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5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Day-1 critical path</a:t>
            </a:r>
          </a:p>
        </p:txBody>
      </p:sp>
      <p:sp>
        <p:nvSpPr>
          <p:cNvPr id="17424" name="card"/>
          <p:cNvSpPr>
            <a:spLocks noChangeAspect="0"/>
          </p:cNvSpPr>
          <p:nvPr/>
        </p:nvSpPr>
        <p:spPr>
          <a:xfrm>
            <a:off x="612648" y="3840480"/>
            <a:ext cx="2157984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80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CLIENT</a:t>
            </a:r>
          </a:p>
          <a:p>
            <a:pPr algn="l">
              <a:lnSpc>
                <a:spcPct val="110000"/>
              </a:lnSpc>
            </a:pPr>
            <a:r>
              <a:rPr lang="en-US" sz="9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Vanilla JS PWA · Leaflet maps · service worker</a:t>
            </a:r>
          </a:p>
        </p:txBody>
      </p:sp>
      <p:sp>
        <p:nvSpPr>
          <p:cNvPr id="17425" name="card"/>
          <p:cNvSpPr>
            <a:spLocks noChangeAspect="0"/>
          </p:cNvSpPr>
          <p:nvPr/>
        </p:nvSpPr>
        <p:spPr>
          <a:xfrm>
            <a:off x="2916936" y="3840480"/>
            <a:ext cx="2157984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80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SERVER</a:t>
            </a:r>
          </a:p>
          <a:p>
            <a:pPr algn="l">
              <a:lnSpc>
                <a:spcPct val="110000"/>
              </a:lnSpc>
            </a:pPr>
            <a:r>
              <a:rPr lang="en-US" sz="9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FastAPI · push · attribution ledger</a:t>
            </a:r>
          </a:p>
        </p:txBody>
      </p:sp>
      <p:sp>
        <p:nvSpPr>
          <p:cNvPr id="17426" name="card"/>
          <p:cNvSpPr>
            <a:spLocks noChangeAspect="0"/>
          </p:cNvSpPr>
          <p:nvPr/>
        </p:nvSpPr>
        <p:spPr>
          <a:xfrm>
            <a:off x="5221224" y="3840480"/>
            <a:ext cx="2157984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t" wrap="square" lIns="164592" rIns="164592" tIns="82296" bIns="82296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80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DATA &amp; APIs</a:t>
            </a:r>
          </a:p>
          <a:p>
            <a:pPr algn="l">
              <a:lnSpc>
                <a:spcPct val="110000"/>
              </a:lnSpc>
            </a:pPr>
            <a:r>
              <a:rPr lang="en-US" sz="9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IMD keyed · WFS · CAP · CPCB · CAMS</a:t>
            </a:r>
          </a:p>
        </p:txBody>
      </p:sp>
      <p:sp>
        <p:nvSpPr>
          <p:cNvPr id="17427" name="text"/>
          <p:cNvSpPr>
            <a:spLocks noChangeAspect="0"/>
          </p:cNvSpPr>
          <p:nvPr/>
        </p:nvSpPr>
        <p:spPr>
          <a:xfrm>
            <a:off x="612648" y="4882896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800" b="1" spc="14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428" name="card"/>
          <p:cNvSpPr>
            <a:spLocks noChangeAspect="0"/>
          </p:cNvSpPr>
          <p:nvPr/>
        </p:nvSpPr>
        <p:spPr>
          <a:xfrm>
            <a:off x="612648" y="5084064"/>
            <a:ext cx="210312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28016" rIns="128016" tIns="64008" bIns="64008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Mock today</a:t>
            </a:r>
          </a:p>
          <a:p>
            <a:pPr algn="l">
              <a:lnSpc>
                <a:spcPct val="104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real captures</a:t>
            </a:r>
          </a:p>
          <a:p>
            <a:pPr algn="l">
              <a:lnSpc>
                <a:spcPct val="104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32 tests green</a:t>
            </a:r>
          </a:p>
        </p:txBody>
      </p:sp>
      <p:sp>
        <p:nvSpPr>
          <p:cNvPr id="17429" name="accent"/>
          <p:cNvSpPr>
            <a:spLocks noChangeAspect="0"/>
          </p:cNvSpPr>
          <p:nvPr/>
        </p:nvSpPr>
        <p:spPr>
          <a:xfrm>
            <a:off x="612648" y="5084064"/>
            <a:ext cx="45720" cy="731520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0" name="arr"/>
          <p:cNvSpPr>
            <a:spLocks noChangeAspect="0"/>
          </p:cNvSpPr>
          <p:nvPr/>
        </p:nvSpPr>
        <p:spPr>
          <a:xfrm>
            <a:off x="2743200" y="5340096"/>
            <a:ext cx="173736" cy="201168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txBody>
          <a:bodyPr anchor="ctr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1" name="card"/>
          <p:cNvSpPr>
            <a:spLocks noChangeAspect="0"/>
          </p:cNvSpPr>
          <p:nvPr/>
        </p:nvSpPr>
        <p:spPr>
          <a:xfrm>
            <a:off x="2944368" y="5084064"/>
            <a:ext cx="210312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28016" rIns="128016" tIns="64008" bIns="64008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Live pipeline</a:t>
            </a:r>
          </a:p>
          <a:p>
            <a:pPr algn="l">
              <a:lnSpc>
                <a:spcPct val="104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keyed APIs</a:t>
            </a:r>
          </a:p>
          <a:p>
            <a:pPr algn="l">
              <a:lnSpc>
                <a:spcPct val="104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static IP + JWT</a:t>
            </a:r>
          </a:p>
        </p:txBody>
      </p:sp>
      <p:sp>
        <p:nvSpPr>
          <p:cNvPr id="17432" name="accent"/>
          <p:cNvSpPr>
            <a:spLocks noChangeAspect="0"/>
          </p:cNvSpPr>
          <p:nvPr/>
        </p:nvSpPr>
        <p:spPr>
          <a:xfrm>
            <a:off x="2944368" y="5084064"/>
            <a:ext cx="45720" cy="731520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3" name="arr"/>
          <p:cNvSpPr>
            <a:spLocks noChangeAspect="0"/>
          </p:cNvSpPr>
          <p:nvPr/>
        </p:nvSpPr>
        <p:spPr>
          <a:xfrm>
            <a:off x="5074920" y="5340096"/>
            <a:ext cx="173736" cy="201168"/>
          </a:xfrm>
          <a:prstGeom prst="rightArrow">
            <a:avLst/>
          </a:prstGeom>
          <a:solidFill>
            <a:srgbClr val="9DC3E6"/>
          </a:solidFill>
          <a:ln>
            <a:noFill/>
          </a:ln>
        </p:spPr>
        <p:txBody>
          <a:bodyPr anchor="ctr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4" name="card"/>
          <p:cNvSpPr>
            <a:spLocks noChangeAspect="0"/>
          </p:cNvSpPr>
          <p:nvPr/>
        </p:nvSpPr>
        <p:spPr>
          <a:xfrm>
            <a:off x="5276088" y="5084064"/>
            <a:ext cx="210312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28016" rIns="128016" tIns="64008" bIns="64008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Finale</a:t>
            </a:r>
          </a:p>
          <a:p>
            <a:pPr algn="l">
              <a:lnSpc>
                <a:spcPct val="104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3 personas · push</a:t>
            </a:r>
          </a:p>
          <a:p>
            <a:pPr algn="l">
              <a:lnSpc>
                <a:spcPct val="104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labelled adapters</a:t>
            </a:r>
          </a:p>
        </p:txBody>
      </p:sp>
      <p:sp>
        <p:nvSpPr>
          <p:cNvPr id="17435" name="accent"/>
          <p:cNvSpPr>
            <a:spLocks noChangeAspect="0"/>
          </p:cNvSpPr>
          <p:nvPr/>
        </p:nvSpPr>
        <p:spPr>
          <a:xfrm>
            <a:off x="5276088" y="5084064"/>
            <a:ext cx="45720" cy="731520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pic>
        <p:nvPicPr>
          <p:cNvPr id="17436" name="shot-proto"/>
          <p:cNvPicPr/>
        </p:nvPicPr>
        <p:blipFill>
          <a:blip r:embed="rId4"/>
          <a:stretch>
            <a:fillRect/>
          </a:stretch>
        </p:blipFill>
        <p:spPr>
          <a:xfrm>
            <a:off x="8050780" y="2011680"/>
            <a:ext cx="1500055" cy="3246120"/>
          </a:xfrm>
          <a:prstGeom prst="rect">
            <a:avLst/>
          </a:prstGeom>
          <a:noFill/>
          <a:ln w="9525">
            <a:solidFill>
              <a:srgbClr val="0B3C7A"/>
            </a:solidFill>
          </a:ln>
        </p:spPr>
      </p:pic>
      <p:pic>
        <p:nvPicPr>
          <p:cNvPr id="17437" name="shot-ai"/>
          <p:cNvPicPr/>
        </p:nvPicPr>
        <p:blipFill>
          <a:blip r:embed="rId5"/>
          <a:stretch>
            <a:fillRect/>
          </a:stretch>
        </p:blipFill>
        <p:spPr>
          <a:xfrm>
            <a:off x="9733716" y="2011680"/>
            <a:ext cx="1381328" cy="3246120"/>
          </a:xfrm>
          <a:prstGeom prst="rect">
            <a:avLst/>
          </a:prstGeom>
          <a:noFill/>
          <a:ln w="9525">
            <a:solidFill>
              <a:srgbClr val="0B3C7A"/>
            </a:solidFill>
          </a:ln>
        </p:spPr>
      </p:pic>
      <p:sp>
        <p:nvSpPr>
          <p:cNvPr id="17438" name="text"/>
          <p:cNvSpPr>
            <a:spLocks noChangeAspect="0"/>
          </p:cNvSpPr>
          <p:nvPr/>
        </p:nvSpPr>
        <p:spPr>
          <a:xfrm>
            <a:off x="8050780" y="5321808"/>
            <a:ext cx="1500055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00" b="1" spc="6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17439" name="text"/>
          <p:cNvSpPr>
            <a:spLocks noChangeAspect="0"/>
          </p:cNvSpPr>
          <p:nvPr/>
        </p:nvSpPr>
        <p:spPr>
          <a:xfrm>
            <a:off x="9733716" y="5321808"/>
            <a:ext cx="1381328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00" b="1" spc="6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ASSISTANT · DESIGN</a:t>
            </a:r>
          </a:p>
        </p:txBody>
      </p:sp>
      <p:sp>
        <p:nvSpPr>
          <p:cNvPr id="17440" name="text"/>
          <p:cNvSpPr>
            <a:spLocks noChangeAspect="0"/>
          </p:cNvSpPr>
          <p:nvPr/>
        </p:nvSpPr>
        <p:spPr>
          <a:xfrm>
            <a:off x="7589520" y="5541264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The mock runs offline on captured IMD payloads; the keyed gateway is the Day-1 critical path.</a:t>
            </a:r>
          </a:p>
        </p:txBody>
      </p:sp>
      <p:sp>
        <p:nvSpPr>
          <p:cNvPr id="17441" name="ptr"/>
          <p:cNvSpPr>
            <a:spLocks noChangeAspect="0"/>
          </p:cNvSpPr>
          <p:nvPr/>
        </p:nvSpPr>
        <p:spPr>
          <a:xfrm>
            <a:off x="612648" y="5907024"/>
            <a:ext cx="43580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</p:txBody>
      </p:sp>
      <p:sp>
        <p:nvSpPr>
          <p:cNvPr id="17442" name="ptr"/>
          <p:cNvSpPr>
            <a:spLocks noChangeAspect="0"/>
          </p:cNvSpPr>
          <p:nvPr/>
        </p:nvSpPr>
        <p:spPr>
          <a:xfrm>
            <a:off x="5062118" y="5907024"/>
            <a:ext cx="478962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841480" y="6035040"/>
            <a:ext cx="100" cy="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83080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C7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B3C7A"/>
                </a:solidFill>
              </a:rPr>
              <a:t>Zencoderss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kicker"/>
          <p:cNvSpPr>
            <a:spLocks noChangeAspect="0"/>
          </p:cNvSpPr>
          <p:nvPr/>
        </p:nvSpPr>
        <p:spPr>
          <a:xfrm>
            <a:off x="612648" y="1097280"/>
            <a:ext cx="10963656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16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17413" name="headline"/>
          <p:cNvSpPr>
            <a:spLocks noChangeAspect="0"/>
          </p:cNvSpPr>
          <p:nvPr/>
        </p:nvSpPr>
        <p:spPr>
          <a:xfrm>
            <a:off x="612648" y="1335024"/>
            <a:ext cx="10963656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26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Every risk already has a working fallback</a:t>
            </a:r>
          </a:p>
        </p:txBody>
      </p:sp>
      <p:sp>
        <p:nvSpPr>
          <p:cNvPr id="17414" name="rule"/>
          <p:cNvSpPr>
            <a:spLocks noChangeAspect="0"/>
          </p:cNvSpPr>
          <p:nvPr/>
        </p:nvSpPr>
        <p:spPr>
          <a:xfrm>
            <a:off x="612648" y="1883664"/>
            <a:ext cx="10963656" cy="20117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5" name="text"/>
          <p:cNvSpPr>
            <a:spLocks noChangeAspect="0"/>
          </p:cNvSpPr>
          <p:nvPr/>
        </p:nvSpPr>
        <p:spPr>
          <a:xfrm>
            <a:off x="612648" y="2011680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4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7416" name="text"/>
          <p:cNvSpPr>
            <a:spLocks noChangeAspect="0"/>
          </p:cNvSpPr>
          <p:nvPr/>
        </p:nvSpPr>
        <p:spPr>
          <a:xfrm>
            <a:off x="6309360" y="2011680"/>
            <a:ext cx="526694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4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HOW WE HANDLE IT</a:t>
            </a:r>
          </a:p>
        </p:txBody>
      </p:sp>
      <p:sp>
        <p:nvSpPr>
          <p:cNvPr id="17417" name="rule"/>
          <p:cNvSpPr>
            <a:spLocks noChangeAspect="0"/>
          </p:cNvSpPr>
          <p:nvPr/>
        </p:nvSpPr>
        <p:spPr>
          <a:xfrm>
            <a:off x="612648" y="2286000"/>
            <a:ext cx="10963656" cy="14630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8" name="text"/>
          <p:cNvSpPr>
            <a:spLocks noChangeAspect="0"/>
          </p:cNvSpPr>
          <p:nvPr/>
        </p:nvSpPr>
        <p:spPr>
          <a:xfrm>
            <a:off x="612648" y="2359152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Keyed API needs a static-IP host</a:t>
            </a:r>
          </a:p>
        </p:txBody>
      </p:sp>
      <p:sp>
        <p:nvSpPr>
          <p:cNvPr id="17419" name="text"/>
          <p:cNvSpPr>
            <a:spLocks noChangeAspect="0"/>
          </p:cNvSpPr>
          <p:nvPr/>
        </p:nvSpPr>
        <p:spPr>
          <a:xfrm>
            <a:off x="6309360" y="2359152"/>
            <a:ext cx="5266944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Run on saved captures + public WFS meanwhile</a:t>
            </a:r>
          </a:p>
        </p:txBody>
      </p:sp>
      <p:sp>
        <p:nvSpPr>
          <p:cNvPr id="17420" name="rule"/>
          <p:cNvSpPr>
            <a:spLocks noChangeAspect="0"/>
          </p:cNvSpPr>
          <p:nvPr/>
        </p:nvSpPr>
        <p:spPr>
          <a:xfrm>
            <a:off x="612648" y="2843784"/>
            <a:ext cx="10963656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1" name="text"/>
          <p:cNvSpPr>
            <a:spLocks noChangeAspect="0"/>
          </p:cNvSpPr>
          <p:nvPr/>
        </p:nvSpPr>
        <p:spPr>
          <a:xfrm>
            <a:off x="612648" y="2871216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CPCB feed may be unreachable</a:t>
            </a:r>
          </a:p>
        </p:txBody>
      </p:sp>
      <p:sp>
        <p:nvSpPr>
          <p:cNvPr id="17422" name="text"/>
          <p:cNvSpPr>
            <a:spLocks noChangeAspect="0"/>
          </p:cNvSpPr>
          <p:nvPr/>
        </p:nvSpPr>
        <p:spPr>
          <a:xfrm>
            <a:off x="6309360" y="2871216"/>
            <a:ext cx="5266944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Labelled mirror fallback, else an honest gap card</a:t>
            </a:r>
          </a:p>
        </p:txBody>
      </p:sp>
      <p:sp>
        <p:nvSpPr>
          <p:cNvPr id="17423" name="rule"/>
          <p:cNvSpPr>
            <a:spLocks noChangeAspect="0"/>
          </p:cNvSpPr>
          <p:nvPr/>
        </p:nvSpPr>
        <p:spPr>
          <a:xfrm>
            <a:off x="612648" y="3355848"/>
            <a:ext cx="10963656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4" name="text"/>
          <p:cNvSpPr>
            <a:spLocks noChangeAspect="0"/>
          </p:cNvSpPr>
          <p:nvPr/>
        </p:nvSpPr>
        <p:spPr>
          <a:xfrm>
            <a:off x="612648" y="3383280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Some IMD fields are undocumented</a:t>
            </a:r>
          </a:p>
        </p:txBody>
      </p:sp>
      <p:sp>
        <p:nvSpPr>
          <p:cNvPr id="17425" name="text"/>
          <p:cNvSpPr>
            <a:spLocks noChangeAspect="0"/>
          </p:cNvSpPr>
          <p:nvPr/>
        </p:nvSpPr>
        <p:spPr>
          <a:xfrm>
            <a:off x="6309360" y="3383280"/>
            <a:ext cx="5266944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Documented fallbacks; the screen states its data grain</a:t>
            </a:r>
          </a:p>
        </p:txBody>
      </p:sp>
      <p:sp>
        <p:nvSpPr>
          <p:cNvPr id="17426" name="rule"/>
          <p:cNvSpPr>
            <a:spLocks noChangeAspect="0"/>
          </p:cNvSpPr>
          <p:nvPr/>
        </p:nvSpPr>
        <p:spPr>
          <a:xfrm>
            <a:off x="612648" y="3867912"/>
            <a:ext cx="10963656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7" name="text"/>
          <p:cNvSpPr>
            <a:spLocks noChangeAspect="0"/>
          </p:cNvSpPr>
          <p:nvPr/>
        </p:nvSpPr>
        <p:spPr>
          <a:xfrm>
            <a:off x="612648" y="3895344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iOS limits push alerts</a:t>
            </a:r>
          </a:p>
        </p:txBody>
      </p:sp>
      <p:sp>
        <p:nvSpPr>
          <p:cNvPr id="17428" name="text"/>
          <p:cNvSpPr>
            <a:spLocks noChangeAspect="0"/>
          </p:cNvSpPr>
          <p:nvPr/>
        </p:nvSpPr>
        <p:spPr>
          <a:xfrm>
            <a:off x="6309360" y="3895344"/>
            <a:ext cx="5266944" cy="51206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Demo on Android; the inbox keeps every alert</a:t>
            </a:r>
          </a:p>
        </p:txBody>
      </p:sp>
      <p:sp>
        <p:nvSpPr>
          <p:cNvPr id="17429" name="text"/>
          <p:cNvSpPr>
            <a:spLocks noChangeAspect="0"/>
          </p:cNvSpPr>
          <p:nvPr/>
        </p:nvSpPr>
        <p:spPr>
          <a:xfrm>
            <a:off x="612648" y="4535424"/>
            <a:ext cx="10963656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4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BUILD ORDER</a:t>
            </a:r>
          </a:p>
        </p:txBody>
      </p:sp>
      <p:sp>
        <p:nvSpPr>
          <p:cNvPr id="17430" name="rule"/>
          <p:cNvSpPr>
            <a:spLocks noChangeAspect="0"/>
          </p:cNvSpPr>
          <p:nvPr/>
        </p:nvSpPr>
        <p:spPr>
          <a:xfrm>
            <a:off x="612648" y="4901184"/>
            <a:ext cx="10963656" cy="12802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1" name="dot"/>
          <p:cNvSpPr>
            <a:spLocks noChangeAspect="0"/>
          </p:cNvSpPr>
          <p:nvPr/>
        </p:nvSpPr>
        <p:spPr>
          <a:xfrm>
            <a:off x="1919097" y="4846320"/>
            <a:ext cx="128016" cy="12801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2" name="text"/>
          <p:cNvSpPr>
            <a:spLocks noChangeAspect="0"/>
          </p:cNvSpPr>
          <p:nvPr/>
        </p:nvSpPr>
        <p:spPr>
          <a:xfrm>
            <a:off x="612648" y="5010912"/>
            <a:ext cx="274091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17433" name="text"/>
          <p:cNvSpPr>
            <a:spLocks noChangeAspect="0"/>
          </p:cNvSpPr>
          <p:nvPr/>
        </p:nvSpPr>
        <p:spPr>
          <a:xfrm>
            <a:off x="612648" y="5212080"/>
            <a:ext cx="2740914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static-IP host + key registration</a:t>
            </a:r>
          </a:p>
        </p:txBody>
      </p:sp>
      <p:sp>
        <p:nvSpPr>
          <p:cNvPr id="17434" name="dot"/>
          <p:cNvSpPr>
            <a:spLocks noChangeAspect="0"/>
          </p:cNvSpPr>
          <p:nvPr/>
        </p:nvSpPr>
        <p:spPr>
          <a:xfrm>
            <a:off x="4660011" y="4846320"/>
            <a:ext cx="128016" cy="128016"/>
          </a:xfrm>
          <a:prstGeom prst="ellipse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5" name="text"/>
          <p:cNvSpPr>
            <a:spLocks noChangeAspect="0"/>
          </p:cNvSpPr>
          <p:nvPr/>
        </p:nvSpPr>
        <p:spPr>
          <a:xfrm>
            <a:off x="3353562" y="5010912"/>
            <a:ext cx="274091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17436" name="text"/>
          <p:cNvSpPr>
            <a:spLocks noChangeAspect="0"/>
          </p:cNvSpPr>
          <p:nvPr/>
        </p:nvSpPr>
        <p:spPr>
          <a:xfrm>
            <a:off x="3353562" y="5212080"/>
            <a:ext cx="2740914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captured-payload mock (done)</a:t>
            </a:r>
          </a:p>
        </p:txBody>
      </p:sp>
      <p:sp>
        <p:nvSpPr>
          <p:cNvPr id="17437" name="dot"/>
          <p:cNvSpPr>
            <a:spLocks noChangeAspect="0"/>
          </p:cNvSpPr>
          <p:nvPr/>
        </p:nvSpPr>
        <p:spPr>
          <a:xfrm>
            <a:off x="7400925" y="4846320"/>
            <a:ext cx="128016" cy="128016"/>
          </a:xfrm>
          <a:prstGeom prst="ellipse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8" name="text"/>
          <p:cNvSpPr>
            <a:spLocks noChangeAspect="0"/>
          </p:cNvSpPr>
          <p:nvPr/>
        </p:nvSpPr>
        <p:spPr>
          <a:xfrm>
            <a:off x="6094476" y="5010912"/>
            <a:ext cx="274091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7439" name="text"/>
          <p:cNvSpPr>
            <a:spLocks noChangeAspect="0"/>
          </p:cNvSpPr>
          <p:nvPr/>
        </p:nvSpPr>
        <p:spPr>
          <a:xfrm>
            <a:off x="6094476" y="5212080"/>
            <a:ext cx="2740914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live keyed pipeline</a:t>
            </a:r>
          </a:p>
        </p:txBody>
      </p:sp>
      <p:sp>
        <p:nvSpPr>
          <p:cNvPr id="17440" name="dot"/>
          <p:cNvSpPr>
            <a:spLocks noChangeAspect="0"/>
          </p:cNvSpPr>
          <p:nvPr/>
        </p:nvSpPr>
        <p:spPr>
          <a:xfrm>
            <a:off x="10141839" y="4846320"/>
            <a:ext cx="128016" cy="128016"/>
          </a:xfrm>
          <a:prstGeom prst="ellipse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41" name="text"/>
          <p:cNvSpPr>
            <a:spLocks noChangeAspect="0"/>
          </p:cNvSpPr>
          <p:nvPr/>
        </p:nvSpPr>
        <p:spPr>
          <a:xfrm>
            <a:off x="8835390" y="5010912"/>
            <a:ext cx="274091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Finale</a:t>
            </a:r>
          </a:p>
        </p:txBody>
      </p:sp>
      <p:sp>
        <p:nvSpPr>
          <p:cNvPr id="17442" name="text"/>
          <p:cNvSpPr>
            <a:spLocks noChangeAspect="0"/>
          </p:cNvSpPr>
          <p:nvPr/>
        </p:nvSpPr>
        <p:spPr>
          <a:xfrm>
            <a:off x="8835390" y="5212080"/>
            <a:ext cx="2740914" cy="31089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3 personas · push · labelled adapters</a:t>
            </a:r>
          </a:p>
        </p:txBody>
      </p:sp>
      <p:sp>
        <p:nvSpPr>
          <p:cNvPr id="17443" name="card"/>
          <p:cNvSpPr>
            <a:spLocks noChangeAspect="0"/>
          </p:cNvSpPr>
          <p:nvPr/>
        </p:nvSpPr>
        <p:spPr>
          <a:xfrm>
            <a:off x="612648" y="5486400"/>
            <a:ext cx="10963656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82880" rIns="182880" tIns="91440" bIns="9144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Viability: </a:t>
            </a:r>
            <a:r>
              <a:rPr lang="en-US" sz="100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container on a static-IP VM · one IMD API account (2 DEV + 2 PROD keys, attribution ledger on request) · no paid services · IMD data with attribution; CPCB/CAMS labelled adapters.</a:t>
            </a:r>
          </a:p>
        </p:txBody>
      </p:sp>
      <p:sp>
        <p:nvSpPr>
          <p:cNvPr id="17444" name="accent"/>
          <p:cNvSpPr>
            <a:spLocks noChangeAspect="0"/>
          </p:cNvSpPr>
          <p:nvPr/>
        </p:nvSpPr>
        <p:spPr>
          <a:xfrm>
            <a:off x="612648" y="5486400"/>
            <a:ext cx="45720" cy="365760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45" name="ptr"/>
          <p:cNvSpPr>
            <a:spLocks noChangeAspect="0"/>
          </p:cNvSpPr>
          <p:nvPr/>
        </p:nvSpPr>
        <p:spPr>
          <a:xfrm>
            <a:off x="612648" y="5907024"/>
            <a:ext cx="246979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</p:txBody>
      </p:sp>
      <p:sp>
        <p:nvSpPr>
          <p:cNvPr id="17446" name="ptr"/>
          <p:cNvSpPr>
            <a:spLocks noChangeAspect="0"/>
          </p:cNvSpPr>
          <p:nvPr/>
        </p:nvSpPr>
        <p:spPr>
          <a:xfrm>
            <a:off x="3173882" y="5907024"/>
            <a:ext cx="19842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7447" name="ptr"/>
          <p:cNvSpPr>
            <a:spLocks noChangeAspect="0"/>
          </p:cNvSpPr>
          <p:nvPr/>
        </p:nvSpPr>
        <p:spPr>
          <a:xfrm>
            <a:off x="5249570" y="5907024"/>
            <a:ext cx="2631643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Strategies for overcoming these challenges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841480" y="6035040"/>
            <a:ext cx="100" cy="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83080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C7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B3C7A"/>
                </a:solidFill>
              </a:rPr>
              <a:t>Zencoderss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kicker"/>
          <p:cNvSpPr>
            <a:spLocks noChangeAspect="0"/>
          </p:cNvSpPr>
          <p:nvPr/>
        </p:nvSpPr>
        <p:spPr>
          <a:xfrm>
            <a:off x="612648" y="1097280"/>
            <a:ext cx="10963656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16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17413" name="headline"/>
          <p:cNvSpPr>
            <a:spLocks noChangeAspect="0"/>
          </p:cNvSpPr>
          <p:nvPr/>
        </p:nvSpPr>
        <p:spPr>
          <a:xfrm>
            <a:off x="612648" y="1335024"/>
            <a:ext cx="10963656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26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Earlier action, traceable trust</a:t>
            </a:r>
          </a:p>
        </p:txBody>
      </p:sp>
      <p:sp>
        <p:nvSpPr>
          <p:cNvPr id="17414" name="rule"/>
          <p:cNvSpPr>
            <a:spLocks noChangeAspect="0"/>
          </p:cNvSpPr>
          <p:nvPr/>
        </p:nvSpPr>
        <p:spPr>
          <a:xfrm>
            <a:off x="612648" y="1883664"/>
            <a:ext cx="10963656" cy="20117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5" name="card"/>
          <p:cNvSpPr>
            <a:spLocks noChangeAspect="0"/>
          </p:cNvSpPr>
          <p:nvPr/>
        </p:nvSpPr>
        <p:spPr>
          <a:xfrm>
            <a:off x="612648" y="2011680"/>
            <a:ext cx="3544824" cy="146304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82880" rIns="182880" t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Commuter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Fog window plus “leave 20 min early”, stated as an action, not a number.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75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WE MEASURE</a:t>
            </a:r>
          </a:p>
          <a:p>
            <a:pPr algn="l">
              <a:lnSpc>
                <a:spcPct val="106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Recall of the action after the alert</a:t>
            </a:r>
          </a:p>
        </p:txBody>
      </p:sp>
      <p:sp>
        <p:nvSpPr>
          <p:cNvPr id="17416" name="accent"/>
          <p:cNvSpPr>
            <a:spLocks noChangeAspect="0"/>
          </p:cNvSpPr>
          <p:nvPr/>
        </p:nvSpPr>
        <p:spPr>
          <a:xfrm>
            <a:off x="612648" y="2011680"/>
            <a:ext cx="45720" cy="1463040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7" name="card"/>
          <p:cNvSpPr>
            <a:spLocks noChangeAspect="0"/>
          </p:cNvSpPr>
          <p:nvPr/>
        </p:nvSpPr>
        <p:spPr>
          <a:xfrm>
            <a:off x="4322064" y="2011680"/>
            <a:ext cx="3544824" cy="146304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82880" rIns="182880" t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Farmer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Agromet sowing window and rainfall against normal, in the order he works.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75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WE MEASURE</a:t>
            </a:r>
          </a:p>
          <a:p>
            <a:pPr algn="l">
              <a:lnSpc>
                <a:spcPct val="106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Action recalled minutes later</a:t>
            </a:r>
          </a:p>
        </p:txBody>
      </p:sp>
      <p:sp>
        <p:nvSpPr>
          <p:cNvPr id="17418" name="accent"/>
          <p:cNvSpPr>
            <a:spLocks noChangeAspect="0"/>
          </p:cNvSpPr>
          <p:nvPr/>
        </p:nvSpPr>
        <p:spPr>
          <a:xfrm>
            <a:off x="4322064" y="2011680"/>
            <a:ext cx="45720" cy="1463040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9" name="card"/>
          <p:cNvSpPr>
            <a:spLocks noChangeAspect="0"/>
          </p:cNvSpPr>
          <p:nvPr/>
        </p:nvSpPr>
        <p:spPr>
          <a:xfrm>
            <a:off x="8031480" y="2011680"/>
            <a:ext cx="3544824" cy="146304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82880" rIns="182880" t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Health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Heat card — and “IMD does not publish pollen” where the data is missing.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750" b="1" spc="12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WE MEASURE</a:t>
            </a:r>
          </a:p>
          <a:p>
            <a:pPr algn="l">
              <a:lnSpc>
                <a:spcPct val="106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Readers treating the gap as a gap</a:t>
            </a:r>
          </a:p>
        </p:txBody>
      </p:sp>
      <p:sp>
        <p:nvSpPr>
          <p:cNvPr id="17420" name="accent"/>
          <p:cNvSpPr>
            <a:spLocks noChangeAspect="0"/>
          </p:cNvSpPr>
          <p:nvPr/>
        </p:nvSpPr>
        <p:spPr>
          <a:xfrm>
            <a:off x="8031480" y="2011680"/>
            <a:ext cx="45720" cy="1463040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1" name="text"/>
          <p:cNvSpPr>
            <a:spLocks noChangeAspect="0"/>
          </p:cNvSpPr>
          <p:nvPr/>
        </p:nvSpPr>
        <p:spPr>
          <a:xfrm>
            <a:off x="612648" y="3657600"/>
            <a:ext cx="10963656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4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17422" name="text"/>
          <p:cNvSpPr>
            <a:spLocks noChangeAspect="0"/>
          </p:cNvSpPr>
          <p:nvPr/>
        </p:nvSpPr>
        <p:spPr>
          <a:xfrm>
            <a:off x="612648" y="3877056"/>
            <a:ext cx="5394960" cy="1463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lang="en-US" sz="8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■  </a:t>
            </a:r>
            <a:r>
              <a:rPr lang="en-US" sz="10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Earlier action —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each card states what to do and how fast.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lang="en-US" sz="8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■  </a:t>
            </a:r>
            <a:r>
              <a:rPr lang="en-US" sz="10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Traceable trust —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every reading names its source, station and age.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lang="en-US" sz="8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■  </a:t>
            </a:r>
            <a:r>
              <a:rPr lang="en-US" sz="10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Works offline —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home shell keeps the last forecast.</a:t>
            </a:r>
          </a:p>
        </p:txBody>
      </p:sp>
      <p:sp>
        <p:nvSpPr>
          <p:cNvPr id="17423" name="text"/>
          <p:cNvSpPr>
            <a:spLocks noChangeAspect="0"/>
          </p:cNvSpPr>
          <p:nvPr/>
        </p:nvSpPr>
        <p:spPr>
          <a:xfrm>
            <a:off x="6181344" y="3877056"/>
            <a:ext cx="5394960" cy="1463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lang="en-US" sz="8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■  </a:t>
            </a:r>
            <a:r>
              <a:rPr lang="en-US" sz="10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Hindi + English —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warning text is human-reviewed, never raw machine translation.</a:t>
            </a:r>
          </a:p>
          <a:p>
            <a:pPr algn="l">
              <a:lnSpc>
                <a:spcPct val="112000"/>
              </a:lnSpc>
              <a:spcAft>
                <a:spcPts val="2400"/>
              </a:spcAft>
            </a:pPr>
            <a:r>
              <a:rPr lang="en-US" sz="8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■  </a:t>
            </a:r>
            <a:r>
              <a:rPr lang="en-US" sz="10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Honest gaps —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missing data shows as a gap, never a fake zero.</a:t>
            </a:r>
          </a:p>
        </p:txBody>
      </p:sp>
      <p:sp>
        <p:nvSpPr>
          <p:cNvPr id="17424" name="card"/>
          <p:cNvSpPr>
            <a:spLocks noChangeAspect="0"/>
          </p:cNvSpPr>
          <p:nvPr/>
        </p:nvSpPr>
        <p:spPr>
          <a:xfrm>
            <a:off x="612648" y="5358384"/>
            <a:ext cx="10963656" cy="438912"/>
          </a:xfrm>
          <a:prstGeom prst="rect">
            <a:avLst/>
          </a:prstGeom>
          <a:solidFill>
            <a:srgbClr val="0B3C7A"/>
          </a:solidFill>
          <a:ln w="6350">
            <a:solidFill>
              <a:srgbClr val="0B3C7A"/>
            </a:solidFill>
          </a:ln>
        </p:spPr>
        <p:txBody>
          <a:bodyPr anchor="ctr" wrap="square" lIns="182880" rIns="182880" tIns="91440" bIns="9144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Scalability — </a:t>
            </a:r>
            <a:r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stateless engine, labelled adapters per source, personas as configuration: a new state needs data, not a rewrite.</a:t>
            </a:r>
          </a:p>
        </p:txBody>
      </p:sp>
      <p:sp>
        <p:nvSpPr>
          <p:cNvPr id="17425" name="ptr"/>
          <p:cNvSpPr>
            <a:spLocks noChangeAspect="0"/>
          </p:cNvSpPr>
          <p:nvPr/>
        </p:nvSpPr>
        <p:spPr>
          <a:xfrm>
            <a:off x="612648" y="5907024"/>
            <a:ext cx="246979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26" name="ptr"/>
          <p:cNvSpPr>
            <a:spLocks noChangeAspect="0"/>
          </p:cNvSpPr>
          <p:nvPr/>
        </p:nvSpPr>
        <p:spPr>
          <a:xfrm>
            <a:off x="3173882" y="5907024"/>
            <a:ext cx="381853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841480" y="6035040"/>
            <a:ext cx="100" cy="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83080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C7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B3C7A"/>
                </a:solidFill>
              </a:rPr>
              <a:t>Zencoderss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kicker"/>
          <p:cNvSpPr>
            <a:spLocks noChangeAspect="0"/>
          </p:cNvSpPr>
          <p:nvPr/>
        </p:nvSpPr>
        <p:spPr>
          <a:xfrm>
            <a:off x="612648" y="1097280"/>
            <a:ext cx="10963656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16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17413" name="headline"/>
          <p:cNvSpPr>
            <a:spLocks noChangeAspect="0"/>
          </p:cNvSpPr>
          <p:nvPr/>
        </p:nvSpPr>
        <p:spPr>
          <a:xfrm>
            <a:off x="612648" y="1335024"/>
            <a:ext cx="10963656" cy="53035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26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Official sources, labelled adapters, no invented numbers</a:t>
            </a:r>
          </a:p>
        </p:txBody>
      </p:sp>
      <p:sp>
        <p:nvSpPr>
          <p:cNvPr id="17414" name="rule"/>
          <p:cNvSpPr>
            <a:spLocks noChangeAspect="0"/>
          </p:cNvSpPr>
          <p:nvPr/>
        </p:nvSpPr>
        <p:spPr>
          <a:xfrm>
            <a:off x="612648" y="1883664"/>
            <a:ext cx="10963656" cy="20117"/>
          </a:xfrm>
          <a:prstGeom prst="rect">
            <a:avLst/>
          </a:prstGeom>
          <a:solidFill>
            <a:srgbClr val="0B3C7A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5" name="text"/>
          <p:cNvSpPr>
            <a:spLocks noChangeAspect="0"/>
          </p:cNvSpPr>
          <p:nvPr/>
        </p:nvSpPr>
        <p:spPr>
          <a:xfrm>
            <a:off x="612648" y="2011680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1.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IMD API reference + portal user guide (key, hourly JWT, static IP)</a:t>
            </a:r>
          </a:p>
        </p:txBody>
      </p:sp>
      <p:sp>
        <p:nvSpPr>
          <p:cNvPr id="17416" name="text"/>
          <p:cNvSpPr>
            <a:spLocks noChangeAspect="0"/>
          </p:cNvSpPr>
          <p:nvPr/>
        </p:nvSpPr>
        <p:spPr>
          <a:xfrm>
            <a:off x="905256" y="2212848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api.imd.gov.in</a:t>
            </a:r>
          </a:p>
        </p:txBody>
      </p:sp>
      <p:sp>
        <p:nvSpPr>
          <p:cNvPr id="17417" name="rule"/>
          <p:cNvSpPr>
            <a:spLocks noChangeAspect="0"/>
          </p:cNvSpPr>
          <p:nvPr/>
        </p:nvSpPr>
        <p:spPr>
          <a:xfrm>
            <a:off x="612648" y="2368296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18" name="text"/>
          <p:cNvSpPr>
            <a:spLocks noChangeAspect="0"/>
          </p:cNvSpPr>
          <p:nvPr/>
        </p:nvSpPr>
        <p:spPr>
          <a:xfrm>
            <a:off x="612648" y="2414016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2.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CPCB real-time AQI, GODL</a:t>
            </a:r>
          </a:p>
        </p:txBody>
      </p:sp>
      <p:sp>
        <p:nvSpPr>
          <p:cNvPr id="17419" name="text"/>
          <p:cNvSpPr>
            <a:spLocks noChangeAspect="0"/>
          </p:cNvSpPr>
          <p:nvPr/>
        </p:nvSpPr>
        <p:spPr>
          <a:xfrm>
            <a:off x="905256" y="2615184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data.gov.in</a:t>
            </a:r>
          </a:p>
        </p:txBody>
      </p:sp>
      <p:sp>
        <p:nvSpPr>
          <p:cNvPr id="17420" name="rule"/>
          <p:cNvSpPr>
            <a:spLocks noChangeAspect="0"/>
          </p:cNvSpPr>
          <p:nvPr/>
        </p:nvSpPr>
        <p:spPr>
          <a:xfrm>
            <a:off x="612648" y="2770632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1" name="text"/>
          <p:cNvSpPr>
            <a:spLocks noChangeAspect="0"/>
          </p:cNvSpPr>
          <p:nvPr/>
        </p:nvSpPr>
        <p:spPr>
          <a:xfrm>
            <a:off x="612648" y="281635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3.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Copernicus CAMS atmosphere data store</a:t>
            </a:r>
          </a:p>
        </p:txBody>
      </p:sp>
      <p:sp>
        <p:nvSpPr>
          <p:cNvPr id="17422" name="text"/>
          <p:cNvSpPr>
            <a:spLocks noChangeAspect="0"/>
          </p:cNvSpPr>
          <p:nvPr/>
        </p:nvSpPr>
        <p:spPr>
          <a:xfrm>
            <a:off x="905256" y="3017520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ads.atmosphere.copernicus.eu</a:t>
            </a:r>
          </a:p>
        </p:txBody>
      </p:sp>
      <p:sp>
        <p:nvSpPr>
          <p:cNvPr id="17423" name="rule"/>
          <p:cNvSpPr>
            <a:spLocks noChangeAspect="0"/>
          </p:cNvSpPr>
          <p:nvPr/>
        </p:nvSpPr>
        <p:spPr>
          <a:xfrm>
            <a:off x="612648" y="3172968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4" name="text"/>
          <p:cNvSpPr>
            <a:spLocks noChangeAspect="0"/>
          </p:cNvSpPr>
          <p:nvPr/>
        </p:nvSpPr>
        <p:spPr>
          <a:xfrm>
            <a:off x="612648" y="3218688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4.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MeitY UX4G design system + PIB Mausam note (2023)</a:t>
            </a:r>
          </a:p>
        </p:txBody>
      </p:sp>
      <p:sp>
        <p:nvSpPr>
          <p:cNvPr id="17425" name="text"/>
          <p:cNvSpPr>
            <a:spLocks noChangeAspect="0"/>
          </p:cNvSpPr>
          <p:nvPr/>
        </p:nvSpPr>
        <p:spPr>
          <a:xfrm>
            <a:off x="905256" y="3419856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ux4g.gov.in · pib.gov.in</a:t>
            </a:r>
          </a:p>
        </p:txBody>
      </p:sp>
      <p:sp>
        <p:nvSpPr>
          <p:cNvPr id="17426" name="rule"/>
          <p:cNvSpPr>
            <a:spLocks noChangeAspect="0"/>
          </p:cNvSpPr>
          <p:nvPr/>
        </p:nvSpPr>
        <p:spPr>
          <a:xfrm>
            <a:off x="612648" y="3575304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27" name="text"/>
          <p:cNvSpPr>
            <a:spLocks noChangeAspect="0"/>
          </p:cNvSpPr>
          <p:nvPr/>
        </p:nvSpPr>
        <p:spPr>
          <a:xfrm>
            <a:off x="612648" y="362102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5.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Pai, N. et al. (2014), IMD Pune gridded rainfall 0.25°</a:t>
            </a:r>
          </a:p>
        </p:txBody>
      </p:sp>
      <p:sp>
        <p:nvSpPr>
          <p:cNvPr id="17428" name="text"/>
          <p:cNvSpPr>
            <a:spLocks noChangeAspect="0"/>
          </p:cNvSpPr>
          <p:nvPr/>
        </p:nvSpPr>
        <p:spPr>
          <a:xfrm>
            <a:off x="905256" y="3822192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published dataset</a:t>
            </a:r>
          </a:p>
        </p:txBody>
      </p:sp>
      <p:sp>
        <p:nvSpPr>
          <p:cNvPr id="17429" name="rule"/>
          <p:cNvSpPr>
            <a:spLocks noChangeAspect="0"/>
          </p:cNvSpPr>
          <p:nvPr/>
        </p:nvSpPr>
        <p:spPr>
          <a:xfrm>
            <a:off x="612648" y="3977640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0" name="text"/>
          <p:cNvSpPr>
            <a:spLocks noChangeAspect="0"/>
          </p:cNvSpPr>
          <p:nvPr/>
        </p:nvSpPr>
        <p:spPr>
          <a:xfrm>
            <a:off x="612648" y="4023360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6.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Mausam app: existing Damini lightning + Meghdoot crop modules</a:t>
            </a:r>
          </a:p>
        </p:txBody>
      </p:sp>
      <p:sp>
        <p:nvSpPr>
          <p:cNvPr id="17431" name="text"/>
          <p:cNvSpPr>
            <a:spLocks noChangeAspect="0"/>
          </p:cNvSpPr>
          <p:nvPr/>
        </p:nvSpPr>
        <p:spPr>
          <a:xfrm>
            <a:off x="905256" y="4224528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mausam.imd.gov.in</a:t>
            </a:r>
          </a:p>
        </p:txBody>
      </p:sp>
      <p:sp>
        <p:nvSpPr>
          <p:cNvPr id="17432" name="rule"/>
          <p:cNvSpPr>
            <a:spLocks noChangeAspect="0"/>
          </p:cNvSpPr>
          <p:nvPr/>
        </p:nvSpPr>
        <p:spPr>
          <a:xfrm>
            <a:off x="612648" y="4379976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3" name="text"/>
          <p:cNvSpPr>
            <a:spLocks noChangeAspect="0"/>
          </p:cNvSpPr>
          <p:nvPr/>
        </p:nvSpPr>
        <p:spPr>
          <a:xfrm>
            <a:off x="612648" y="4425696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7.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Working mock, fixtures, replay tests (32 pass)</a:t>
            </a:r>
          </a:p>
        </p:txBody>
      </p:sp>
      <p:sp>
        <p:nvSpPr>
          <p:cNvPr id="17434" name="text"/>
          <p:cNvSpPr>
            <a:spLocks noChangeAspect="0"/>
          </p:cNvSpPr>
          <p:nvPr/>
        </p:nvSpPr>
        <p:spPr>
          <a:xfrm>
            <a:off x="905256" y="4626864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Mausam/docs/evidence (illustrative)</a:t>
            </a:r>
          </a:p>
        </p:txBody>
      </p:sp>
      <p:sp>
        <p:nvSpPr>
          <p:cNvPr id="17435" name="rule"/>
          <p:cNvSpPr>
            <a:spLocks noChangeAspect="0"/>
          </p:cNvSpPr>
          <p:nvPr/>
        </p:nvSpPr>
        <p:spPr>
          <a:xfrm>
            <a:off x="612648" y="4782312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6" name="text"/>
          <p:cNvSpPr>
            <a:spLocks noChangeAspect="0"/>
          </p:cNvSpPr>
          <p:nvPr/>
        </p:nvSpPr>
        <p:spPr>
          <a:xfrm>
            <a:off x="612648" y="4828032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8.  </a:t>
            </a:r>
            <a:r>
              <a:rPr lang="en-US" sz="10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demo – deployed PWA, guest-first, works offline</a:t>
            </a:r>
          </a:p>
        </p:txBody>
      </p:sp>
      <p:sp>
        <p:nvSpPr>
          <p:cNvPr id="17437" name="text"/>
          <p:cNvSpPr>
            <a:spLocks noChangeAspect="0"/>
          </p:cNvSpPr>
          <p:nvPr/>
        </p:nvSpPr>
        <p:spPr>
          <a:xfrm>
            <a:off x="905256" y="5029200"/>
            <a:ext cx="6656832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900" u="sng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mausam-sih26076-devanshdhangar70-7520s-projects.vercel.app/</a:t>
            </a:r>
          </a:p>
        </p:txBody>
      </p:sp>
      <p:sp>
        <p:nvSpPr>
          <p:cNvPr id="17438" name="rule"/>
          <p:cNvSpPr>
            <a:spLocks noChangeAspect="0"/>
          </p:cNvSpPr>
          <p:nvPr/>
        </p:nvSpPr>
        <p:spPr>
          <a:xfrm>
            <a:off x="612648" y="5184648"/>
            <a:ext cx="6949440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39" name="card"/>
          <p:cNvSpPr>
            <a:spLocks noChangeAspect="0"/>
          </p:cNvSpPr>
          <p:nvPr/>
        </p:nvSpPr>
        <p:spPr>
          <a:xfrm>
            <a:off x="612648" y="5340096"/>
            <a:ext cx="6949440" cy="512064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4"/>
            </a:solidFill>
          </a:ln>
        </p:spPr>
        <p:txBody>
          <a:bodyPr anchor="ctr" wrap="square" lIns="128016" rIns="128016" tIns="64008" bIns="64008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9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How we differ — </a:t>
            </a:r>
            <a:r>
              <a:rPr lang="en-US" sz="950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Damini and Meghdoot show values; we show values with source, station, issue time and age, plus replayable advice and honest gap cards.</a:t>
            </a:r>
          </a:p>
        </p:txBody>
      </p:sp>
      <p:sp>
        <p:nvSpPr>
          <p:cNvPr id="17440" name="accent"/>
          <p:cNvSpPr>
            <a:spLocks noChangeAspect="0"/>
          </p:cNvSpPr>
          <p:nvPr/>
        </p:nvSpPr>
        <p:spPr>
          <a:xfrm>
            <a:off x="612648" y="5340096"/>
            <a:ext cx="45720" cy="512064"/>
          </a:xfrm>
          <a:prstGeom prst="rect">
            <a:avLst/>
          </a:prstGeom>
          <a:solidFill>
            <a:srgbClr val="0B6BCB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41" name="text"/>
          <p:cNvSpPr>
            <a:spLocks noChangeAspect="0"/>
          </p:cNvSpPr>
          <p:nvPr/>
        </p:nvSpPr>
        <p:spPr>
          <a:xfrm>
            <a:off x="7818120" y="2011680"/>
            <a:ext cx="3758184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40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SOURCE MAP</a:t>
            </a:r>
          </a:p>
        </p:txBody>
      </p:sp>
      <p:sp>
        <p:nvSpPr>
          <p:cNvPr id="17442" name="text"/>
          <p:cNvSpPr>
            <a:spLocks noChangeAspect="0"/>
          </p:cNvSpPr>
          <p:nvPr/>
        </p:nvSpPr>
        <p:spPr>
          <a:xfrm>
            <a:off x="7818120" y="2286000"/>
            <a:ext cx="375818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IMD  </a:t>
            </a: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official · keyed API</a:t>
            </a:r>
          </a:p>
        </p:txBody>
      </p:sp>
      <p:sp>
        <p:nvSpPr>
          <p:cNvPr id="17443" name="rule"/>
          <p:cNvSpPr>
            <a:spLocks noChangeAspect="0"/>
          </p:cNvSpPr>
          <p:nvPr/>
        </p:nvSpPr>
        <p:spPr>
          <a:xfrm>
            <a:off x="7818120" y="2578608"/>
            <a:ext cx="3758184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44" name="text"/>
          <p:cNvSpPr>
            <a:spLocks noChangeAspect="0"/>
          </p:cNvSpPr>
          <p:nvPr/>
        </p:nvSpPr>
        <p:spPr>
          <a:xfrm>
            <a:off x="7818120" y="2651760"/>
            <a:ext cx="375818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CPCB  </a:t>
            </a: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official · labelled adapter</a:t>
            </a:r>
          </a:p>
        </p:txBody>
      </p:sp>
      <p:sp>
        <p:nvSpPr>
          <p:cNvPr id="17445" name="rule"/>
          <p:cNvSpPr>
            <a:spLocks noChangeAspect="0"/>
          </p:cNvSpPr>
          <p:nvPr/>
        </p:nvSpPr>
        <p:spPr>
          <a:xfrm>
            <a:off x="7818120" y="2944368"/>
            <a:ext cx="3758184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46" name="text"/>
          <p:cNvSpPr>
            <a:spLocks noChangeAspect="0"/>
          </p:cNvSpPr>
          <p:nvPr/>
        </p:nvSpPr>
        <p:spPr>
          <a:xfrm>
            <a:off x="7818120" y="3017520"/>
            <a:ext cx="375818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Copernicus CAMS  </a:t>
            </a: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official · labelled</a:t>
            </a:r>
          </a:p>
        </p:txBody>
      </p:sp>
      <p:sp>
        <p:nvSpPr>
          <p:cNvPr id="17447" name="rule"/>
          <p:cNvSpPr>
            <a:spLocks noChangeAspect="0"/>
          </p:cNvSpPr>
          <p:nvPr/>
        </p:nvSpPr>
        <p:spPr>
          <a:xfrm>
            <a:off x="7818120" y="3310128"/>
            <a:ext cx="3758184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48" name="text"/>
          <p:cNvSpPr>
            <a:spLocks noChangeAspect="0"/>
          </p:cNvSpPr>
          <p:nvPr/>
        </p:nvSpPr>
        <p:spPr>
          <a:xfrm>
            <a:off x="7818120" y="3383280"/>
            <a:ext cx="375818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MeitY UX4G  </a:t>
            </a: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design standard</a:t>
            </a:r>
          </a:p>
        </p:txBody>
      </p:sp>
      <p:sp>
        <p:nvSpPr>
          <p:cNvPr id="17449" name="rule"/>
          <p:cNvSpPr>
            <a:spLocks noChangeAspect="0"/>
          </p:cNvSpPr>
          <p:nvPr/>
        </p:nvSpPr>
        <p:spPr>
          <a:xfrm>
            <a:off x="7818120" y="3675888"/>
            <a:ext cx="3758184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sp>
        <p:nvSpPr>
          <p:cNvPr id="17450" name="text"/>
          <p:cNvSpPr>
            <a:spLocks noChangeAspect="0"/>
          </p:cNvSpPr>
          <p:nvPr/>
        </p:nvSpPr>
        <p:spPr>
          <a:xfrm>
            <a:off x="7818120" y="3749040"/>
            <a:ext cx="375818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Our mock  </a:t>
            </a:r>
            <a:r>
              <a:rPr lang="en-US" sz="9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32 tests · replay</a:t>
            </a:r>
          </a:p>
        </p:txBody>
      </p:sp>
      <p:sp>
        <p:nvSpPr>
          <p:cNvPr id="17451" name="rule"/>
          <p:cNvSpPr>
            <a:spLocks noChangeAspect="0"/>
          </p:cNvSpPr>
          <p:nvPr/>
        </p:nvSpPr>
        <p:spPr>
          <a:xfrm>
            <a:off x="7818120" y="4041648"/>
            <a:ext cx="3758184" cy="9144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txBody>
          <a:bodyPr anchor="t" wrap="square">
            <a:normAutofit/>
          </a:bodyPr>
          <a:lstStyle/>
          <a:p>
            <a:pPr>
              <a:lnSpc>
                <a:spcPct val="100000"/>
              </a:lnSpc>
            </a:pPr>
          </a:p>
        </p:txBody>
      </p:sp>
      <p:pic>
        <p:nvPicPr>
          <p:cNvPr id="17452" name="demoqr"/>
          <p:cNvPicPr/>
        </p:nvPicPr>
        <p:blipFill>
          <a:blip r:embed="rId4"/>
          <a:stretch>
            <a:fillRect/>
          </a:stretch>
        </p:blipFill>
        <p:spPr>
          <a:xfrm>
            <a:off x="7818120" y="4370832"/>
            <a:ext cx="914400" cy="914400"/>
          </a:xfrm>
          <a:prstGeom prst="rect">
            <a:avLst/>
          </a:prstGeom>
          <a:noFill/>
          <a:ln w="9525">
            <a:solidFill>
              <a:srgbClr val="D8DEE4"/>
            </a:solidFill>
          </a:ln>
        </p:spPr>
      </p:pic>
      <p:sp>
        <p:nvSpPr>
          <p:cNvPr id="17453" name="text"/>
          <p:cNvSpPr>
            <a:spLocks noChangeAspect="0"/>
          </p:cNvSpPr>
          <p:nvPr/>
        </p:nvSpPr>
        <p:spPr>
          <a:xfrm>
            <a:off x="8897112" y="4389120"/>
            <a:ext cx="2679192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B3C7A"/>
                </a:solidFill>
                <a:latin typeface="Arial"/>
                <a:ea typeface="Arial"/>
                <a:cs typeface="Arial"/>
              </a:rPr>
              <a:t>Scan to try the live demo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lang="en-US" sz="800" b="1" u="sng" dirty="0">
                <a:solidFill>
                  <a:srgbClr val="0B6BCB"/>
                </a:solidFill>
                <a:latin typeface="Arial"/>
                <a:ea typeface="Arial"/>
                <a:cs typeface="Arial"/>
              </a:rPr>
              <a:t>https://mausam-sih26076-devanshdhangar70-7520s-projects.vercel.app/</a:t>
            </a:r>
          </a:p>
          <a:p>
            <a:pPr algn="l">
              <a:lnSpc>
                <a:spcPct val="100000"/>
              </a:lnSpc>
            </a:pPr>
            <a:r>
              <a:rPr lang="en-US" sz="8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Guest-first PWA · offline · EN/HI</a:t>
            </a:r>
          </a:p>
        </p:txBody>
      </p:sp>
      <p:sp>
        <p:nvSpPr>
          <p:cNvPr id="17454" name="text"/>
          <p:cNvSpPr>
            <a:spLocks noChangeAspect="0"/>
          </p:cNvSpPr>
          <p:nvPr/>
        </p:nvSpPr>
        <p:spPr>
          <a:xfrm>
            <a:off x="7818120" y="5431536"/>
            <a:ext cx="3758184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95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Official, verifiable sources; local mock paths are labelled (illustrative). No fabricated statistics.</a:t>
            </a:r>
          </a:p>
        </p:txBody>
      </p:sp>
      <p:sp>
        <p:nvSpPr>
          <p:cNvPr id="17455" name="ptr"/>
          <p:cNvSpPr>
            <a:spLocks noChangeAspect="0"/>
          </p:cNvSpPr>
          <p:nvPr/>
        </p:nvSpPr>
        <p:spPr>
          <a:xfrm>
            <a:off x="612648" y="5907024"/>
            <a:ext cx="3063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</p:spPr>
        <p:txBody>
          <a:bodyPr anchor="ctr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800" dirty="0">
                <a:solidFill>
                  <a:srgbClr val="5B6570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