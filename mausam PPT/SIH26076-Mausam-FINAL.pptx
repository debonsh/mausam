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SIH26076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Personalised homepage for the Mausam mobile application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 – Smart Automation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 – 195697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Zencoderss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9" name="accent"/>
          <p:cNvSpPr>
            <a:spLocks noChangeAspect="0"/>
          </p:cNvSpPr>
          <p:nvPr/>
        </p:nvSpPr>
        <p:spPr>
          <a:xfrm>
            <a:off x="612648" y="4160520"/>
            <a:ext cx="5120640" cy="82296"/>
          </a:xfrm>
          <a:prstGeom prst="rect">
            <a:avLst/>
          </a:prstGeom>
          <a:solidFill>
            <a:srgbClr val="F79646"/>
          </a:solidFill>
          <a:ln>
            <a:noFill/>
          </a:ln>
        </p:spPr>
        <p:txBody>
          <a:bodyPr anchor="t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40" name="ideatitle"/>
          <p:cNvSpPr>
            <a:spLocks noChangeAspect="0"/>
          </p:cNvSpPr>
          <p:nvPr/>
        </p:nvSpPr>
        <p:spPr>
          <a:xfrm>
            <a:off x="612648" y="4279392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2800" b="1" dirty="0">
                <a:solidFill>
                  <a:srgbClr val="003366"/>
                </a:solidFill>
                <a:latin typeface="Times New Roman"/>
                <a:ea typeface="Times New Roman"/>
                <a:cs typeface="Times New Roman"/>
              </a:rPr>
              <a:t>Mausam home: actions with proof</a:t>
            </a:r>
          </a:p>
        </p:txBody>
      </p:sp>
      <p:sp>
        <p:nvSpPr>
          <p:cNvPr id="41" name="tagline"/>
          <p:cNvSpPr>
            <a:spLocks noChangeAspect="0"/>
          </p:cNvSpPr>
          <p:nvPr/>
        </p:nvSpPr>
        <p:spPr>
          <a:xfrm>
            <a:off x="612648" y="4818888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20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Every number shows its source, station, issue time and age. Every advisory can be re-derived by hand.</a:t>
            </a:r>
          </a:p>
        </p:txBody>
      </p:sp>
      <p:pic>
        <p:nvPicPr>
          <p:cNvPr id="42" name="productshot"/>
          <p:cNvPicPr/>
        </p:nvPicPr>
        <p:blipFill>
          <a:blip r:embed="rId4"/>
          <a:stretch>
            <a:fillRect/>
          </a:stretch>
        </p:blipFill>
        <p:spPr>
          <a:xfrm>
            <a:off x="8503920" y="502920"/>
            <a:ext cx="2331720" cy="5074920"/>
          </a:xfrm>
          <a:prstGeom prst="roundRect">
            <a:avLst/>
          </a:prstGeom>
          <a:noFill/>
          <a:ln>
            <a:noFill/>
          </a:ln>
        </p:spPr>
      </p:pic>
      <p:sp>
        <p:nvSpPr>
          <p:cNvPr id="43" name="shotcap"/>
          <p:cNvSpPr>
            <a:spLocks noChangeAspect="0"/>
          </p:cNvSpPr>
          <p:nvPr/>
        </p:nvSpPr>
        <p:spPr>
          <a:xfrm>
            <a:off x="8275320" y="5623560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Working prototype home (illustrative screenshot). Map + action cards with IMD provenance on every number.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11841480" y="6035040"/>
            <a:ext cx="100" cy="100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Zencoderss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4" name="ideatitle"/>
          <p:cNvSpPr>
            <a:spLocks noChangeAspect="0"/>
          </p:cNvSpPr>
          <p:nvPr/>
        </p:nvSpPr>
        <p:spPr>
          <a:xfrm>
            <a:off x="612648" y="1207008"/>
            <a:ext cx="8778240" cy="310896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2200" b="1" dirty="0">
                <a:solidFill>
                  <a:srgbClr val="003366"/>
                </a:solidFill>
                <a:latin typeface="Times New Roman"/>
                <a:ea typeface="Times New Roman"/>
                <a:cs typeface="Times New Roman"/>
              </a:rPr>
              <a:t>Mausam home: actions with proof</a:t>
            </a:r>
          </a:p>
        </p:txBody>
      </p:sp>
      <p:sp>
        <p:nvSpPr>
          <p:cNvPr id="15365" name="ptr"/>
          <p:cNvSpPr>
            <a:spLocks noChangeAspect="0"/>
          </p:cNvSpPr>
          <p:nvPr/>
        </p:nvSpPr>
        <p:spPr>
          <a:xfrm>
            <a:off x="612648" y="1572768"/>
            <a:ext cx="3520440" cy="237744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9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PROPOSED SOLUTION (DESCRIBE YOUR IDEA/SOLUTION/PROTOTYPE)</a:t>
            </a:r>
          </a:p>
        </p:txBody>
      </p:sp>
      <p:sp>
        <p:nvSpPr>
          <p:cNvPr id="15366" name="fill"/>
          <p:cNvSpPr>
            <a:spLocks noChangeAspect="0"/>
          </p:cNvSpPr>
          <p:nvPr/>
        </p:nvSpPr>
        <p:spPr>
          <a:xfrm>
            <a:off x="612648" y="1810512"/>
            <a:ext cx="3520440" cy="475488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 home screen that adapts to you: map on top, action cards below.</a:t>
            </a:r>
          </a:p>
        </p:txBody>
      </p:sp>
      <p:sp>
        <p:nvSpPr>
          <p:cNvPr id="15367" name="ptr"/>
          <p:cNvSpPr>
            <a:spLocks noChangeAspect="0"/>
          </p:cNvSpPr>
          <p:nvPr/>
        </p:nvSpPr>
        <p:spPr>
          <a:xfrm>
            <a:off x="612648" y="2377440"/>
            <a:ext cx="3520440" cy="237744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9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DETAILED EXPLANATION OF THE PROPOSED SOLUTION</a:t>
            </a:r>
          </a:p>
        </p:txBody>
      </p:sp>
      <p:sp>
        <p:nvSpPr>
          <p:cNvPr id="15368" name="fill"/>
          <p:cNvSpPr>
            <a:spLocks noChangeAspect="0"/>
          </p:cNvSpPr>
          <p:nvPr/>
        </p:nvSpPr>
        <p:spPr>
          <a:xfrm>
            <a:off x="612648" y="2615184"/>
            <a:ext cx="3520440" cy="475488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Onboarding picks your persona. The home reorders: the farmer sees sowing first, the commuter sees fog first.</a:t>
            </a:r>
          </a:p>
        </p:txBody>
      </p:sp>
      <p:sp>
        <p:nvSpPr>
          <p:cNvPr id="15369" name="ptr"/>
          <p:cNvSpPr>
            <a:spLocks noChangeAspect="0"/>
          </p:cNvSpPr>
          <p:nvPr/>
        </p:nvSpPr>
        <p:spPr>
          <a:xfrm>
            <a:off x="612648" y="3182112"/>
            <a:ext cx="3520440" cy="237744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9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HOW IT ADDRESSES THE PROBLEM</a:t>
            </a:r>
          </a:p>
        </p:txBody>
      </p:sp>
      <p:sp>
        <p:nvSpPr>
          <p:cNvPr id="15370" name="fill"/>
          <p:cNvSpPr>
            <a:spLocks noChangeAspect="0"/>
          </p:cNvSpPr>
          <p:nvPr/>
        </p:nvSpPr>
        <p:spPr>
          <a:xfrm>
            <a:off x="612648" y="3419856"/>
            <a:ext cx="3520440" cy="475488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Every card says what to do, shows the readings behind it, and names its source, station and age.</a:t>
            </a:r>
          </a:p>
        </p:txBody>
      </p:sp>
      <p:sp>
        <p:nvSpPr>
          <p:cNvPr id="15371" name="ptr"/>
          <p:cNvSpPr>
            <a:spLocks noChangeAspect="0"/>
          </p:cNvSpPr>
          <p:nvPr/>
        </p:nvSpPr>
        <p:spPr>
          <a:xfrm>
            <a:off x="612648" y="3986784"/>
            <a:ext cx="3520440" cy="237744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9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INNOVATION AND UNIQUENESS OF THE SOLUTION</a:t>
            </a:r>
          </a:p>
        </p:txBody>
      </p:sp>
      <p:sp>
        <p:nvSpPr>
          <p:cNvPr id="15372" name="fill"/>
          <p:cNvSpPr>
            <a:spLocks noChangeAspect="0"/>
          </p:cNvSpPr>
          <p:nvPr/>
        </p:nvSpPr>
        <p:spPr>
          <a:xfrm>
            <a:off x="612648" y="4224528"/>
            <a:ext cx="3520440" cy="475488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Source on every number. Replayable advice. Honest gaps where data is missing. A grounded bot that never invents numbers.</a:t>
            </a:r>
          </a:p>
        </p:txBody>
      </p:sp>
      <p:pic>
        <p:nvPicPr>
          <p:cNvPr id="15373" name="shot-home"/>
          <p:cNvPicPr/>
        </p:nvPicPr>
        <p:blipFill>
          <a:blip r:embed="rId4"/>
          <a:stretch>
            <a:fillRect/>
          </a:stretch>
        </p:blipFill>
        <p:spPr>
          <a:xfrm>
            <a:off x="4343400" y="1572768"/>
            <a:ext cx="1691640" cy="3520440"/>
          </a:xfrm>
          <a:prstGeom prst="roundRect">
            <a:avLst/>
          </a:prstGeom>
          <a:noFill/>
          <a:ln>
            <a:noFill/>
          </a:ln>
        </p:spPr>
      </p:pic>
      <p:pic>
        <p:nvPicPr>
          <p:cNvPr id="15374" name="shot-prov"/>
          <p:cNvPicPr/>
        </p:nvPicPr>
        <p:blipFill>
          <a:blip r:embed="rId5"/>
          <a:stretch>
            <a:fillRect/>
          </a:stretch>
        </p:blipFill>
        <p:spPr>
          <a:xfrm>
            <a:off x="6217920" y="1572768"/>
            <a:ext cx="1691640" cy="3520440"/>
          </a:xfrm>
          <a:prstGeom prst="roundRect">
            <a:avLst/>
          </a:prstGeom>
          <a:noFill/>
          <a:ln>
            <a:noFill/>
          </a:ln>
        </p:spPr>
      </p:pic>
      <p:sp>
        <p:nvSpPr>
          <p:cNvPr id="15375" name="shotcap"/>
          <p:cNvSpPr>
            <a:spLocks noChangeAspect="0"/>
          </p:cNvSpPr>
          <p:nvPr/>
        </p:nvSpPr>
        <p:spPr>
          <a:xfrm>
            <a:off x="4297680" y="5120640"/>
            <a:ext cx="3657600" cy="310896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number on screen → tap ⓘ → source · station · issue time · age</a:t>
            </a:r>
          </a:p>
        </p:txBody>
      </p:sp>
      <p:sp>
        <p:nvSpPr>
          <p:cNvPr id="15376" name="hero"/>
          <p:cNvSpPr>
            <a:spLocks noChangeAspect="0"/>
          </p:cNvSpPr>
          <p:nvPr/>
        </p:nvSpPr>
        <p:spPr>
          <a:xfrm>
            <a:off x="8229600" y="1572768"/>
            <a:ext cx="3337560" cy="114300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F79646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3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Source on every number</a:t>
            </a:r>
          </a:p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station + issue time + age on each reading; tap ⓘ for the full provenance sheet</a:t>
            </a:r>
          </a:p>
        </p:txBody>
      </p:sp>
      <p:sp>
        <p:nvSpPr>
          <p:cNvPr id="15377" name="diff"/>
          <p:cNvSpPr>
            <a:spLocks noChangeAspect="0"/>
          </p:cNvSpPr>
          <p:nvPr/>
        </p:nvSpPr>
        <p:spPr>
          <a:xfrm>
            <a:off x="8229600" y="2834640"/>
            <a:ext cx="3337560" cy="86868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4F81BD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Advice you can replay</a:t>
            </a:r>
          </a:p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same data → same card, byte-identical</a:t>
            </a:r>
          </a:p>
        </p:txBody>
      </p:sp>
      <p:sp>
        <p:nvSpPr>
          <p:cNvPr id="15378" name="diff"/>
          <p:cNvSpPr>
            <a:spLocks noChangeAspect="0"/>
          </p:cNvSpPr>
          <p:nvPr/>
        </p:nvSpPr>
        <p:spPr>
          <a:xfrm>
            <a:off x="8229600" y="3794760"/>
            <a:ext cx="3337560" cy="86868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4F81BD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Honest gaps, no guesses</a:t>
            </a:r>
          </a:p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no data → a gap card, never a zero</a:t>
            </a:r>
          </a:p>
        </p:txBody>
      </p:sp>
      <p:sp>
        <p:nvSpPr>
          <p:cNvPr id="15379" name="hook"/>
          <p:cNvSpPr>
            <a:spLocks noChangeAspect="0"/>
          </p:cNvSpPr>
          <p:nvPr/>
        </p:nvSpPr>
        <p:spPr>
          <a:xfrm>
            <a:off x="612648" y="5486400"/>
            <a:ext cx="10954512" cy="713232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003366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Every number on this screen can tell you where it came from, when it was issued, and how old it is. Every advisory can be re-derived by hand.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841480" y="6035040"/>
            <a:ext cx="100" cy="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Zencoderss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ptr1"/>
          <p:cNvSpPr>
            <a:spLocks noChangeAspect="0"/>
          </p:cNvSpPr>
          <p:nvPr/>
        </p:nvSpPr>
        <p:spPr>
          <a:xfrm>
            <a:off x="612648" y="1115568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Technologies to be used (e.g. programming languages, frameworks, hardware)</a:t>
            </a:r>
          </a:p>
        </p:txBody>
      </p:sp>
      <p:sp>
        <p:nvSpPr>
          <p:cNvPr id="17413" name="pipe"/>
          <p:cNvSpPr>
            <a:spLocks noChangeAspect="0"/>
          </p:cNvSpPr>
          <p:nvPr/>
        </p:nvSpPr>
        <p:spPr>
          <a:xfrm>
            <a:off x="411480" y="1417320"/>
            <a:ext cx="1627632" cy="128016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IMD DATA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 keyed APIs
WFS · CAP feed</a:t>
            </a:r>
          </a:p>
        </p:txBody>
      </p:sp>
      <p:sp>
        <p:nvSpPr>
          <p:cNvPr id="17414" name="arr"/>
          <p:cNvSpPr>
            <a:spLocks noChangeAspect="0"/>
          </p:cNvSpPr>
          <p:nvPr/>
        </p:nvSpPr>
        <p:spPr>
          <a:xfrm>
            <a:off x="2057400" y="1929384"/>
            <a:ext cx="237744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5" name="pipe"/>
          <p:cNvSpPr>
            <a:spLocks noChangeAspect="0"/>
          </p:cNvSpPr>
          <p:nvPr/>
        </p:nvSpPr>
        <p:spPr>
          <a:xfrm>
            <a:off x="2313432" y="1417320"/>
            <a:ext cx="1627632" cy="1280160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79646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★ GATEWAY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Static-IP host
key + hourly JWT</a:t>
            </a:r>
          </a:p>
        </p:txBody>
      </p:sp>
      <p:sp>
        <p:nvSpPr>
          <p:cNvPr id="17416" name="arr"/>
          <p:cNvSpPr>
            <a:spLocks noChangeAspect="0"/>
          </p:cNvSpPr>
          <p:nvPr/>
        </p:nvSpPr>
        <p:spPr>
          <a:xfrm>
            <a:off x="3959352" y="1929384"/>
            <a:ext cx="237744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7" name="pipe"/>
          <p:cNvSpPr>
            <a:spLocks noChangeAspect="0"/>
          </p:cNvSpPr>
          <p:nvPr/>
        </p:nvSpPr>
        <p:spPr>
          <a:xfrm>
            <a:off x="4215384" y="1417320"/>
            <a:ext cx="1627632" cy="128016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FUSION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
CPCB AQI · CAMS UV</a:t>
            </a:r>
          </a:p>
        </p:txBody>
      </p:sp>
      <p:sp>
        <p:nvSpPr>
          <p:cNvPr id="17418" name="arr"/>
          <p:cNvSpPr>
            <a:spLocks noChangeAspect="0"/>
          </p:cNvSpPr>
          <p:nvPr/>
        </p:nvSpPr>
        <p:spPr>
          <a:xfrm>
            <a:off x="5861304" y="1929384"/>
            <a:ext cx="237744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9" name="pipe"/>
          <p:cNvSpPr>
            <a:spLocks noChangeAspect="0"/>
          </p:cNvSpPr>
          <p:nvPr/>
        </p:nvSpPr>
        <p:spPr>
          <a:xfrm>
            <a:off x="6117336" y="1417320"/>
            <a:ext cx="1627632" cy="128016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INTELLIGENCE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Advisory + window
engines · replay</a:t>
            </a:r>
          </a:p>
        </p:txBody>
      </p:sp>
      <p:sp>
        <p:nvSpPr>
          <p:cNvPr id="17420" name="arr"/>
          <p:cNvSpPr>
            <a:spLocks noChangeAspect="0"/>
          </p:cNvSpPr>
          <p:nvPr/>
        </p:nvSpPr>
        <p:spPr>
          <a:xfrm>
            <a:off x="7763256" y="1929384"/>
            <a:ext cx="237744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1" name="pipe"/>
          <p:cNvSpPr>
            <a:spLocks noChangeAspect="0"/>
          </p:cNvSpPr>
          <p:nvPr/>
        </p:nvSpPr>
        <p:spPr>
          <a:xfrm>
            <a:off x="8019288" y="1417320"/>
            <a:ext cx="1627632" cy="128016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BACKEND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Bundle API
push · ledger</a:t>
            </a:r>
          </a:p>
        </p:txBody>
      </p:sp>
      <p:sp>
        <p:nvSpPr>
          <p:cNvPr id="17422" name="arr"/>
          <p:cNvSpPr>
            <a:spLocks noChangeAspect="0"/>
          </p:cNvSpPr>
          <p:nvPr/>
        </p:nvSpPr>
        <p:spPr>
          <a:xfrm>
            <a:off x="9665208" y="1929384"/>
            <a:ext cx="237744" cy="256032"/>
          </a:xfrm>
          <a:prstGeom prst="rightArrow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3" name="pipe"/>
          <p:cNvSpPr>
            <a:spLocks noChangeAspect="0"/>
          </p:cNvSpPr>
          <p:nvPr/>
        </p:nvSpPr>
        <p:spPr>
          <a:xfrm>
            <a:off x="9921240" y="1417320"/>
            <a:ext cx="1627632" cy="128016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HOMEPAGE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Offline PWA
EN/HI · WCAG AA</a:t>
            </a:r>
          </a:p>
        </p:txBody>
      </p:sp>
      <p:sp>
        <p:nvSpPr>
          <p:cNvPr id="17424" name="chip"/>
          <p:cNvSpPr>
            <a:spLocks noChangeAspect="0"/>
          </p:cNvSpPr>
          <p:nvPr/>
        </p:nvSpPr>
        <p:spPr>
          <a:xfrm>
            <a:off x="411480" y="2788920"/>
            <a:ext cx="2121408" cy="3657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BBBBB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Vanilla JS PWA</a:t>
            </a:r>
          </a:p>
        </p:txBody>
      </p:sp>
      <p:sp>
        <p:nvSpPr>
          <p:cNvPr id="17425" name="chip"/>
          <p:cNvSpPr>
            <a:spLocks noChangeAspect="0"/>
          </p:cNvSpPr>
          <p:nvPr/>
        </p:nvSpPr>
        <p:spPr>
          <a:xfrm>
            <a:off x="2642616" y="2788920"/>
            <a:ext cx="2121408" cy="3657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BBBBB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Leaflet maps</a:t>
            </a:r>
          </a:p>
        </p:txBody>
      </p:sp>
      <p:sp>
        <p:nvSpPr>
          <p:cNvPr id="17426" name="chip"/>
          <p:cNvSpPr>
            <a:spLocks noChangeAspect="0"/>
          </p:cNvSpPr>
          <p:nvPr/>
        </p:nvSpPr>
        <p:spPr>
          <a:xfrm>
            <a:off x="4873752" y="2788920"/>
            <a:ext cx="2121408" cy="3657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BBBBB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17427" name="chip"/>
          <p:cNvSpPr>
            <a:spLocks noChangeAspect="0"/>
          </p:cNvSpPr>
          <p:nvPr/>
        </p:nvSpPr>
        <p:spPr>
          <a:xfrm>
            <a:off x="7104888" y="2788920"/>
            <a:ext cx="2121408" cy="3657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BBBBB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Firebase auth + Web Push</a:t>
            </a:r>
          </a:p>
        </p:txBody>
      </p:sp>
      <p:sp>
        <p:nvSpPr>
          <p:cNvPr id="17428" name="chip"/>
          <p:cNvSpPr>
            <a:spLocks noChangeAspect="0"/>
          </p:cNvSpPr>
          <p:nvPr/>
        </p:nvSpPr>
        <p:spPr>
          <a:xfrm>
            <a:off x="9336024" y="2788920"/>
            <a:ext cx="2121408" cy="3657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BBBBB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Grounded bot + templates</a:t>
            </a:r>
          </a:p>
        </p:txBody>
      </p:sp>
      <p:sp>
        <p:nvSpPr>
          <p:cNvPr id="17429" name="ptr2"/>
          <p:cNvSpPr>
            <a:spLocks noChangeAspect="0"/>
          </p:cNvSpPr>
          <p:nvPr/>
        </p:nvSpPr>
        <p:spPr>
          <a:xfrm>
            <a:off x="612648" y="3246120"/>
            <a:ext cx="6949440" cy="27432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Methodology and process for implementation (Flow Charts/Images/ working prototype)</a:t>
            </a:r>
          </a:p>
        </p:txBody>
      </p:sp>
      <p:sp>
        <p:nvSpPr>
          <p:cNvPr id="17430" name="stage"/>
          <p:cNvSpPr>
            <a:spLocks noChangeAspect="0"/>
          </p:cNvSpPr>
          <p:nvPr/>
        </p:nvSpPr>
        <p:spPr>
          <a:xfrm>
            <a:off x="612648" y="3566160"/>
            <a:ext cx="2103120" cy="9144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Mock today</a:t>
            </a:r>
          </a:p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real captures
32 tests green</a:t>
            </a:r>
          </a:p>
        </p:txBody>
      </p:sp>
      <p:sp>
        <p:nvSpPr>
          <p:cNvPr id="17431" name="arr"/>
          <p:cNvSpPr>
            <a:spLocks noChangeAspect="0"/>
          </p:cNvSpPr>
          <p:nvPr/>
        </p:nvSpPr>
        <p:spPr>
          <a:xfrm>
            <a:off x="2734056" y="3895344"/>
            <a:ext cx="310896" cy="256032"/>
          </a:xfrm>
          <a:prstGeom prst="rightArrow">
            <a:avLst/>
          </a:prstGeom>
          <a:solidFill>
            <a:srgbClr val="9BBB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2" name="stage"/>
          <p:cNvSpPr>
            <a:spLocks noChangeAspect="0"/>
          </p:cNvSpPr>
          <p:nvPr/>
        </p:nvSpPr>
        <p:spPr>
          <a:xfrm>
            <a:off x="3063240" y="3566160"/>
            <a:ext cx="2103120" cy="91440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Live pipeline</a:t>
            </a:r>
          </a:p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keyed APIs
static IP + JWT</a:t>
            </a:r>
          </a:p>
        </p:txBody>
      </p:sp>
      <p:sp>
        <p:nvSpPr>
          <p:cNvPr id="17433" name="arr"/>
          <p:cNvSpPr>
            <a:spLocks noChangeAspect="0"/>
          </p:cNvSpPr>
          <p:nvPr/>
        </p:nvSpPr>
        <p:spPr>
          <a:xfrm>
            <a:off x="5184648" y="3895344"/>
            <a:ext cx="310896" cy="256032"/>
          </a:xfrm>
          <a:prstGeom prst="rightArrow">
            <a:avLst/>
          </a:prstGeom>
          <a:solidFill>
            <a:srgbClr val="9BBB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4" name="stage"/>
          <p:cNvSpPr>
            <a:spLocks noChangeAspect="0"/>
          </p:cNvSpPr>
          <p:nvPr/>
        </p:nvSpPr>
        <p:spPr>
          <a:xfrm>
            <a:off x="5513832" y="3566160"/>
            <a:ext cx="2103120" cy="91440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Finale</a:t>
            </a:r>
          </a:p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personas · push
labelled adapters</a:t>
            </a:r>
          </a:p>
        </p:txBody>
      </p:sp>
      <p:sp>
        <p:nvSpPr>
          <p:cNvPr id="17435" name="replay"/>
          <p:cNvSpPr>
            <a:spLocks noChangeAspect="0"/>
          </p:cNvSpPr>
          <p:nvPr/>
        </p:nvSpPr>
        <p:spPr>
          <a:xfrm>
            <a:off x="612648" y="4617720"/>
            <a:ext cx="3657600" cy="86868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003366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REPLAY  logged inputs → rule chain → byte-identical card ↺</a:t>
            </a:r>
          </a:p>
        </p:txBody>
      </p:sp>
      <p:sp>
        <p:nvSpPr>
          <p:cNvPr id="17436" name="ainote"/>
          <p:cNvSpPr>
            <a:spLocks noChangeAspect="0"/>
          </p:cNvSpPr>
          <p:nvPr/>
        </p:nvSpPr>
        <p:spPr>
          <a:xfrm>
            <a:off x="4389120" y="4617720"/>
            <a:ext cx="3172968" cy="86868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9BBB59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AI only where justified: grounded bot + template fallback. No model invents weather.</a:t>
            </a:r>
          </a:p>
        </p:txBody>
      </p:sp>
      <p:sp>
        <p:nvSpPr>
          <p:cNvPr id="17437" name="protohead"/>
          <p:cNvSpPr>
            <a:spLocks noChangeAspect="0"/>
          </p:cNvSpPr>
          <p:nvPr/>
        </p:nvSpPr>
        <p:spPr>
          <a:xfrm>
            <a:off x="7863840" y="3246120"/>
            <a:ext cx="3703320" cy="27432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Working prototype (illustrative screenshot)</a:t>
            </a:r>
          </a:p>
        </p:txBody>
      </p:sp>
      <p:pic>
        <p:nvPicPr>
          <p:cNvPr id="17438" name="shot-proto"/>
          <p:cNvPicPr/>
        </p:nvPicPr>
        <p:blipFill>
          <a:blip r:embed="rId4"/>
          <a:stretch>
            <a:fillRect/>
          </a:stretch>
        </p:blipFill>
        <p:spPr>
          <a:xfrm>
            <a:off x="8732520" y="3566160"/>
            <a:ext cx="1234440" cy="2377440"/>
          </a:xfrm>
          <a:prstGeom prst="roundRect">
            <a:avLst/>
          </a:prstGeom>
          <a:noFill/>
          <a:ln>
            <a:noFill/>
          </a:ln>
        </p:spPr>
      </p:pic>
      <p:sp>
        <p:nvSpPr>
          <p:cNvPr id="17439" name="protocap"/>
          <p:cNvSpPr>
            <a:spLocks noChangeAspect="0"/>
          </p:cNvSpPr>
          <p:nvPr/>
        </p:nvSpPr>
        <p:spPr>
          <a:xfrm>
            <a:off x="7863840" y="5961888"/>
            <a:ext cx="3703320" cy="256032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replay reproduces this card byte-identically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841480" y="6035040"/>
            <a:ext cx="100" cy="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Zencoderss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feas"/>
          <p:cNvSpPr>
            <a:spLocks noChangeAspect="0"/>
          </p:cNvSpPr>
          <p:nvPr/>
        </p:nvSpPr>
        <p:spPr>
          <a:xfrm>
            <a:off x="612648" y="1115568"/>
            <a:ext cx="10972800" cy="530352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Analysis of the feasibility of the idea</a:t>
            </a:r>
          </a:p>
          <a:p>
            <a:pPr algn="l" marL="0">
              <a:lnSpc>
                <a:spcPct val="100000"/>
              </a:lnSpc>
            </a:pPr>
            <a:r>
              <a:rPr lang="en-US" sz="12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The mock runs offline on real captured IMD payloads. 32 tests green. Each risk below has a working fallback.</a:t>
            </a:r>
          </a:p>
        </p:txBody>
      </p:sp>
      <p:sp>
        <p:nvSpPr>
          <p:cNvPr id="17413" name="h1"/>
          <p:cNvSpPr>
            <a:spLocks noChangeAspect="0"/>
          </p:cNvSpPr>
          <p:nvPr/>
        </p:nvSpPr>
        <p:spPr>
          <a:xfrm>
            <a:off x="612648" y="1682496"/>
            <a:ext cx="5349240" cy="292608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Potential challenges and risks</a:t>
            </a:r>
          </a:p>
        </p:txBody>
      </p:sp>
      <p:sp>
        <p:nvSpPr>
          <p:cNvPr id="17414" name="h2"/>
          <p:cNvSpPr>
            <a:spLocks noChangeAspect="0"/>
          </p:cNvSpPr>
          <p:nvPr/>
        </p:nvSpPr>
        <p:spPr>
          <a:xfrm>
            <a:off x="6263640" y="1682496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Strategies for overcoming these challenges</a:t>
            </a:r>
          </a:p>
        </p:txBody>
      </p:sp>
      <p:sp>
        <p:nvSpPr>
          <p:cNvPr id="17415" name="ch"/>
          <p:cNvSpPr>
            <a:spLocks noChangeAspect="0"/>
          </p:cNvSpPr>
          <p:nvPr/>
        </p:nvSpPr>
        <p:spPr>
          <a:xfrm>
            <a:off x="612648" y="1993392"/>
            <a:ext cx="5074920" cy="603504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0504D"/>
            </a:solidFill>
          </a:ln>
        </p:spPr>
        <p:txBody>
          <a:bodyPr anchor="ctr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Keyed API needs a static-IP host</a:t>
            </a:r>
          </a:p>
        </p:txBody>
      </p:sp>
      <p:sp>
        <p:nvSpPr>
          <p:cNvPr id="17416" name="arr"/>
          <p:cNvSpPr>
            <a:spLocks noChangeAspect="0"/>
          </p:cNvSpPr>
          <p:nvPr/>
        </p:nvSpPr>
        <p:spPr>
          <a:xfrm>
            <a:off x="5742432" y="2167128"/>
            <a:ext cx="457200" cy="256032"/>
          </a:xfrm>
          <a:prstGeom prst="rightArrow">
            <a:avLst/>
          </a:prstGeom>
          <a:solidFill>
            <a:srgbClr val="9BBB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7" name="fix"/>
          <p:cNvSpPr>
            <a:spLocks noChangeAspect="0"/>
          </p:cNvSpPr>
          <p:nvPr/>
        </p:nvSpPr>
        <p:spPr>
          <a:xfrm>
            <a:off x="6263640" y="1993392"/>
            <a:ext cx="5303520" cy="603504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9BBB59"/>
            </a:solidFill>
          </a:ln>
        </p:spPr>
        <p:txBody>
          <a:bodyPr anchor="ctr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Run on saved captures + public WFS meanwhile</a:t>
            </a:r>
          </a:p>
        </p:txBody>
      </p:sp>
      <p:sp>
        <p:nvSpPr>
          <p:cNvPr id="17418" name="ch"/>
          <p:cNvSpPr>
            <a:spLocks noChangeAspect="0"/>
          </p:cNvSpPr>
          <p:nvPr/>
        </p:nvSpPr>
        <p:spPr>
          <a:xfrm>
            <a:off x="612648" y="2706624"/>
            <a:ext cx="5074920" cy="603504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0504D"/>
            </a:solidFill>
          </a:ln>
        </p:spPr>
        <p:txBody>
          <a:bodyPr anchor="ctr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CPCB feed may be unreachable</a:t>
            </a:r>
          </a:p>
        </p:txBody>
      </p:sp>
      <p:sp>
        <p:nvSpPr>
          <p:cNvPr id="17419" name="arr"/>
          <p:cNvSpPr>
            <a:spLocks noChangeAspect="0"/>
          </p:cNvSpPr>
          <p:nvPr/>
        </p:nvSpPr>
        <p:spPr>
          <a:xfrm>
            <a:off x="5742432" y="2880360"/>
            <a:ext cx="457200" cy="256032"/>
          </a:xfrm>
          <a:prstGeom prst="rightArrow">
            <a:avLst/>
          </a:prstGeom>
          <a:solidFill>
            <a:srgbClr val="9BBB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0" name="fix"/>
          <p:cNvSpPr>
            <a:spLocks noChangeAspect="0"/>
          </p:cNvSpPr>
          <p:nvPr/>
        </p:nvSpPr>
        <p:spPr>
          <a:xfrm>
            <a:off x="6263640" y="2706624"/>
            <a:ext cx="5303520" cy="603504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9BBB59"/>
            </a:solidFill>
          </a:ln>
        </p:spPr>
        <p:txBody>
          <a:bodyPr anchor="ctr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Labelled mirror fallback, else an honest gap card</a:t>
            </a:r>
          </a:p>
        </p:txBody>
      </p:sp>
      <p:sp>
        <p:nvSpPr>
          <p:cNvPr id="17421" name="ch"/>
          <p:cNvSpPr>
            <a:spLocks noChangeAspect="0"/>
          </p:cNvSpPr>
          <p:nvPr/>
        </p:nvSpPr>
        <p:spPr>
          <a:xfrm>
            <a:off x="612648" y="3419856"/>
            <a:ext cx="5074920" cy="603504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0504D"/>
            </a:solidFill>
          </a:ln>
        </p:spPr>
        <p:txBody>
          <a:bodyPr anchor="ctr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Some IMD fields are undocumented</a:t>
            </a:r>
          </a:p>
        </p:txBody>
      </p:sp>
      <p:sp>
        <p:nvSpPr>
          <p:cNvPr id="17422" name="arr"/>
          <p:cNvSpPr>
            <a:spLocks noChangeAspect="0"/>
          </p:cNvSpPr>
          <p:nvPr/>
        </p:nvSpPr>
        <p:spPr>
          <a:xfrm>
            <a:off x="5742432" y="3593592"/>
            <a:ext cx="457200" cy="256032"/>
          </a:xfrm>
          <a:prstGeom prst="rightArrow">
            <a:avLst/>
          </a:prstGeom>
          <a:solidFill>
            <a:srgbClr val="9BBB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3" name="fix"/>
          <p:cNvSpPr>
            <a:spLocks noChangeAspect="0"/>
          </p:cNvSpPr>
          <p:nvPr/>
        </p:nvSpPr>
        <p:spPr>
          <a:xfrm>
            <a:off x="6263640" y="3419856"/>
            <a:ext cx="5303520" cy="603504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9BBB59"/>
            </a:solidFill>
          </a:ln>
        </p:spPr>
        <p:txBody>
          <a:bodyPr anchor="ctr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Documented fallbacks; the screen states its data grain</a:t>
            </a:r>
          </a:p>
        </p:txBody>
      </p:sp>
      <p:sp>
        <p:nvSpPr>
          <p:cNvPr id="17424" name="ch"/>
          <p:cNvSpPr>
            <a:spLocks noChangeAspect="0"/>
          </p:cNvSpPr>
          <p:nvPr/>
        </p:nvSpPr>
        <p:spPr>
          <a:xfrm>
            <a:off x="612648" y="4133088"/>
            <a:ext cx="5074920" cy="603504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0504D"/>
            </a:solidFill>
          </a:ln>
        </p:spPr>
        <p:txBody>
          <a:bodyPr anchor="ctr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iOS limits push alerts</a:t>
            </a:r>
          </a:p>
        </p:txBody>
      </p:sp>
      <p:sp>
        <p:nvSpPr>
          <p:cNvPr id="17425" name="arr"/>
          <p:cNvSpPr>
            <a:spLocks noChangeAspect="0"/>
          </p:cNvSpPr>
          <p:nvPr/>
        </p:nvSpPr>
        <p:spPr>
          <a:xfrm>
            <a:off x="5742432" y="4306824"/>
            <a:ext cx="457200" cy="256032"/>
          </a:xfrm>
          <a:prstGeom prst="rightArrow">
            <a:avLst/>
          </a:prstGeom>
          <a:solidFill>
            <a:srgbClr val="9BBB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6" name="fix"/>
          <p:cNvSpPr>
            <a:spLocks noChangeAspect="0"/>
          </p:cNvSpPr>
          <p:nvPr/>
        </p:nvSpPr>
        <p:spPr>
          <a:xfrm>
            <a:off x="6263640" y="4133088"/>
            <a:ext cx="5303520" cy="603504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9BBB59"/>
            </a:solidFill>
          </a:ln>
        </p:spPr>
        <p:txBody>
          <a:bodyPr anchor="ctr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Demo on Android; the inbox keeps every alert</a:t>
            </a:r>
          </a:p>
        </p:txBody>
      </p:sp>
      <p:sp>
        <p:nvSpPr>
          <p:cNvPr id="17427" name="tl"/>
          <p:cNvSpPr>
            <a:spLocks noChangeAspect="0"/>
          </p:cNvSpPr>
          <p:nvPr/>
        </p:nvSpPr>
        <p:spPr>
          <a:xfrm>
            <a:off x="612648" y="4956048"/>
            <a:ext cx="2542032" cy="566928"/>
          </a:xfrm>
          <a:prstGeom prst="roundRect">
            <a:avLst/>
          </a:prstGeom>
          <a:solidFill>
            <a:srgbClr val="F796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Day 1  ·  static-IP host + key registration</a:t>
            </a:r>
          </a:p>
        </p:txBody>
      </p:sp>
      <p:sp>
        <p:nvSpPr>
          <p:cNvPr id="17428" name="arr"/>
          <p:cNvSpPr>
            <a:spLocks noChangeAspect="0"/>
          </p:cNvSpPr>
          <p:nvPr/>
        </p:nvSpPr>
        <p:spPr>
          <a:xfrm>
            <a:off x="3172968" y="5148072"/>
            <a:ext cx="274320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9" name="tl"/>
          <p:cNvSpPr>
            <a:spLocks noChangeAspect="0"/>
          </p:cNvSpPr>
          <p:nvPr/>
        </p:nvSpPr>
        <p:spPr>
          <a:xfrm>
            <a:off x="3465576" y="4956048"/>
            <a:ext cx="2542032" cy="566928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Week 1  ·  captured-payload mock (done)</a:t>
            </a:r>
          </a:p>
        </p:txBody>
      </p:sp>
      <p:sp>
        <p:nvSpPr>
          <p:cNvPr id="17430" name="arr"/>
          <p:cNvSpPr>
            <a:spLocks noChangeAspect="0"/>
          </p:cNvSpPr>
          <p:nvPr/>
        </p:nvSpPr>
        <p:spPr>
          <a:xfrm>
            <a:off x="6025896" y="5148072"/>
            <a:ext cx="274320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1" name="tl"/>
          <p:cNvSpPr>
            <a:spLocks noChangeAspect="0"/>
          </p:cNvSpPr>
          <p:nvPr/>
        </p:nvSpPr>
        <p:spPr>
          <a:xfrm>
            <a:off x="6318504" y="4956048"/>
            <a:ext cx="2542032" cy="566928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Week 3  ·  live keyed pipeline</a:t>
            </a:r>
          </a:p>
        </p:txBody>
      </p:sp>
      <p:sp>
        <p:nvSpPr>
          <p:cNvPr id="17432" name="arr"/>
          <p:cNvSpPr>
            <a:spLocks noChangeAspect="0"/>
          </p:cNvSpPr>
          <p:nvPr/>
        </p:nvSpPr>
        <p:spPr>
          <a:xfrm>
            <a:off x="8878824" y="5148072"/>
            <a:ext cx="274320" cy="18288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33" name="tl"/>
          <p:cNvSpPr>
            <a:spLocks noChangeAspect="0"/>
          </p:cNvSpPr>
          <p:nvPr/>
        </p:nvSpPr>
        <p:spPr>
          <a:xfrm>
            <a:off x="9171432" y="4956048"/>
            <a:ext cx="2542032" cy="566928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Finale  ·  demo: 3 personas push + adapters</a:t>
            </a:r>
          </a:p>
        </p:txBody>
      </p:sp>
      <p:sp>
        <p:nvSpPr>
          <p:cNvPr id="17434" name="viab"/>
          <p:cNvSpPr>
            <a:spLocks noChangeAspect="0"/>
          </p:cNvSpPr>
          <p:nvPr/>
        </p:nvSpPr>
        <p:spPr>
          <a:xfrm>
            <a:off x="612648" y="5596128"/>
            <a:ext cx="10954512" cy="603504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003366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Viability: one container on a static-IP VM · one IMD API account (2 DEV + 2 PROD keys, attribution ledger on request) · no paid services · IMD data with attribution; CPCB/CAMS labelled adapters.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841480" y="6035040"/>
            <a:ext cx="100" cy="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Zencoderss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imp"/>
          <p:cNvSpPr>
            <a:spLocks noChangeAspect="0"/>
          </p:cNvSpPr>
          <p:nvPr/>
        </p:nvSpPr>
        <p:spPr>
          <a:xfrm>
            <a:off x="612648" y="1115568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Potential impact on the target audience</a:t>
            </a:r>
          </a:p>
        </p:txBody>
      </p:sp>
      <p:sp>
        <p:nvSpPr>
          <p:cNvPr id="17413" name="per"/>
          <p:cNvSpPr>
            <a:spLocks noChangeAspect="0"/>
          </p:cNvSpPr>
          <p:nvPr/>
        </p:nvSpPr>
        <p:spPr>
          <a:xfrm>
            <a:off x="612648" y="1481328"/>
            <a:ext cx="1828800" cy="86868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Commuter</a:t>
            </a:r>
          </a:p>
        </p:txBody>
      </p:sp>
      <p:sp>
        <p:nvSpPr>
          <p:cNvPr id="17414" name="arr"/>
          <p:cNvSpPr>
            <a:spLocks noChangeAspect="0"/>
          </p:cNvSpPr>
          <p:nvPr/>
        </p:nvSpPr>
        <p:spPr>
          <a:xfrm>
            <a:off x="2496312" y="1783080"/>
            <a:ext cx="365760" cy="256032"/>
          </a:xfrm>
          <a:prstGeom prst="rightArrow">
            <a:avLst/>
          </a:prstGeom>
          <a:solidFill>
            <a:srgbClr val="F796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5" name="act"/>
          <p:cNvSpPr>
            <a:spLocks noChangeAspect="0"/>
          </p:cNvSpPr>
          <p:nvPr/>
        </p:nvSpPr>
        <p:spPr>
          <a:xfrm>
            <a:off x="2916936" y="1481328"/>
            <a:ext cx="28346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Fog window + “leave 20 min early”</a:t>
            </a:r>
          </a:p>
        </p:txBody>
      </p:sp>
      <p:sp>
        <p:nvSpPr>
          <p:cNvPr id="17416" name="arr"/>
          <p:cNvSpPr>
            <a:spLocks noChangeAspect="0"/>
          </p:cNvSpPr>
          <p:nvPr/>
        </p:nvSpPr>
        <p:spPr>
          <a:xfrm>
            <a:off x="5806440" y="1783080"/>
            <a:ext cx="365760" cy="256032"/>
          </a:xfrm>
          <a:prstGeom prst="rightArrow">
            <a:avLst/>
          </a:prstGeom>
          <a:solidFill>
            <a:srgbClr val="F796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17" name="meas"/>
          <p:cNvSpPr>
            <a:spLocks noChangeAspect="0"/>
          </p:cNvSpPr>
          <p:nvPr/>
        </p:nvSpPr>
        <p:spPr>
          <a:xfrm>
            <a:off x="6227064" y="1481328"/>
            <a:ext cx="2560320" cy="86868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9BBB59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900" b="1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we measure: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time to state the action</a:t>
            </a:r>
          </a:p>
        </p:txBody>
      </p:sp>
      <p:sp>
        <p:nvSpPr>
          <p:cNvPr id="17418" name="per"/>
          <p:cNvSpPr>
            <a:spLocks noChangeAspect="0"/>
          </p:cNvSpPr>
          <p:nvPr/>
        </p:nvSpPr>
        <p:spPr>
          <a:xfrm>
            <a:off x="612648" y="2468880"/>
            <a:ext cx="1828800" cy="86868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Farmer</a:t>
            </a:r>
          </a:p>
        </p:txBody>
      </p:sp>
      <p:sp>
        <p:nvSpPr>
          <p:cNvPr id="17419" name="arr"/>
          <p:cNvSpPr>
            <a:spLocks noChangeAspect="0"/>
          </p:cNvSpPr>
          <p:nvPr/>
        </p:nvSpPr>
        <p:spPr>
          <a:xfrm>
            <a:off x="2496312" y="2770632"/>
            <a:ext cx="365760" cy="256032"/>
          </a:xfrm>
          <a:prstGeom prst="rightArrow">
            <a:avLst/>
          </a:prstGeom>
          <a:solidFill>
            <a:srgbClr val="F796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0" name="act"/>
          <p:cNvSpPr>
            <a:spLocks noChangeAspect="0"/>
          </p:cNvSpPr>
          <p:nvPr/>
        </p:nvSpPr>
        <p:spPr>
          <a:xfrm>
            <a:off x="2916936" y="2468880"/>
            <a:ext cx="28346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Agromet + sowing window,
rainfall vs normal</a:t>
            </a:r>
          </a:p>
        </p:txBody>
      </p:sp>
      <p:sp>
        <p:nvSpPr>
          <p:cNvPr id="17421" name="arr"/>
          <p:cNvSpPr>
            <a:spLocks noChangeAspect="0"/>
          </p:cNvSpPr>
          <p:nvPr/>
        </p:nvSpPr>
        <p:spPr>
          <a:xfrm>
            <a:off x="5806440" y="2770632"/>
            <a:ext cx="365760" cy="256032"/>
          </a:xfrm>
          <a:prstGeom prst="rightArrow">
            <a:avLst/>
          </a:prstGeom>
          <a:solidFill>
            <a:srgbClr val="F796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2" name="meas"/>
          <p:cNvSpPr>
            <a:spLocks noChangeAspect="0"/>
          </p:cNvSpPr>
          <p:nvPr/>
        </p:nvSpPr>
        <p:spPr>
          <a:xfrm>
            <a:off x="6227064" y="2468880"/>
            <a:ext cx="2560320" cy="86868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9BBB59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900" b="1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we measure: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action recalled after 5 min</a:t>
            </a:r>
          </a:p>
        </p:txBody>
      </p:sp>
      <p:sp>
        <p:nvSpPr>
          <p:cNvPr id="17423" name="per"/>
          <p:cNvSpPr>
            <a:spLocks noChangeAspect="0"/>
          </p:cNvSpPr>
          <p:nvPr/>
        </p:nvSpPr>
        <p:spPr>
          <a:xfrm>
            <a:off x="612648" y="3456432"/>
            <a:ext cx="1828800" cy="86868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Health</a:t>
            </a:r>
          </a:p>
        </p:txBody>
      </p:sp>
      <p:sp>
        <p:nvSpPr>
          <p:cNvPr id="17424" name="arr"/>
          <p:cNvSpPr>
            <a:spLocks noChangeAspect="0"/>
          </p:cNvSpPr>
          <p:nvPr/>
        </p:nvSpPr>
        <p:spPr>
          <a:xfrm>
            <a:off x="2496312" y="3758184"/>
            <a:ext cx="365760" cy="256032"/>
          </a:xfrm>
          <a:prstGeom prst="rightArrow">
            <a:avLst/>
          </a:prstGeom>
          <a:solidFill>
            <a:srgbClr val="F796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5" name="act"/>
          <p:cNvSpPr>
            <a:spLocks noChangeAspect="0"/>
          </p:cNvSpPr>
          <p:nvPr/>
        </p:nvSpPr>
        <p:spPr>
          <a:xfrm>
            <a:off x="2916936" y="3456432"/>
            <a:ext cx="28346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Heat card + “IMD does not
publish pollen”</a:t>
            </a:r>
          </a:p>
        </p:txBody>
      </p:sp>
      <p:sp>
        <p:nvSpPr>
          <p:cNvPr id="17426" name="arr"/>
          <p:cNvSpPr>
            <a:spLocks noChangeAspect="0"/>
          </p:cNvSpPr>
          <p:nvPr/>
        </p:nvSpPr>
        <p:spPr>
          <a:xfrm>
            <a:off x="5806440" y="3758184"/>
            <a:ext cx="365760" cy="256032"/>
          </a:xfrm>
          <a:prstGeom prst="rightArrow">
            <a:avLst/>
          </a:prstGeom>
          <a:solidFill>
            <a:srgbClr val="F7964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>
              <a:lnSpc>
                <a:spcPct val="100000"/>
              </a:lnSpc>
            </a:pPr>
          </a:p>
        </p:txBody>
      </p:sp>
      <p:sp>
        <p:nvSpPr>
          <p:cNvPr id="17427" name="meas"/>
          <p:cNvSpPr>
            <a:spLocks noChangeAspect="0"/>
          </p:cNvSpPr>
          <p:nvPr/>
        </p:nvSpPr>
        <p:spPr>
          <a:xfrm>
            <a:off x="6227064" y="3456432"/>
            <a:ext cx="2560320" cy="86868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9BBB59"/>
            </a:solidFill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900" b="1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we measure:</a:t>
            </a:r>
          </a:p>
          <a:p>
            <a:pPr algn="ctr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% reading the gap as a gap</a:t>
            </a:r>
          </a:p>
        </p:txBody>
      </p:sp>
      <p:pic>
        <p:nvPicPr>
          <p:cNvPr id="17428" name="shot-hi"/>
          <p:cNvPicPr/>
        </p:nvPicPr>
        <p:blipFill>
          <a:blip r:embed="rId4"/>
          <a:stretch>
            <a:fillRect/>
          </a:stretch>
        </p:blipFill>
        <p:spPr>
          <a:xfrm>
            <a:off x="9098280" y="1481328"/>
            <a:ext cx="1554480" cy="3017520"/>
          </a:xfrm>
          <a:prstGeom prst="roundRect">
            <a:avLst/>
          </a:prstGeom>
          <a:noFill/>
          <a:ln>
            <a:noFill/>
          </a:ln>
        </p:spPr>
      </p:pic>
      <p:sp>
        <p:nvSpPr>
          <p:cNvPr id="17429" name="hicap"/>
          <p:cNvSpPr>
            <a:spLocks noChangeAspect="0"/>
          </p:cNvSpPr>
          <p:nvPr/>
        </p:nvSpPr>
        <p:spPr>
          <a:xfrm>
            <a:off x="8915400" y="452628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595959"/>
                </a:solidFill>
                <a:latin typeface="Arial"/>
                <a:ea typeface="Arial"/>
                <a:cs typeface="Arial"/>
              </a:rPr>
              <a:t>Hindi onboarding +
offline shell (illustrative)</a:t>
            </a:r>
          </a:p>
        </p:txBody>
      </p:sp>
      <p:sp>
        <p:nvSpPr>
          <p:cNvPr id="17430" name="ben"/>
          <p:cNvSpPr>
            <a:spLocks noChangeAspect="0"/>
          </p:cNvSpPr>
          <p:nvPr/>
        </p:nvSpPr>
        <p:spPr>
          <a:xfrm>
            <a:off x="612648" y="5074920"/>
            <a:ext cx="10954512" cy="105156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b="1" dirty="0">
                <a:solidFill>
                  <a:srgbClr val="003366"/>
                </a:solidFill>
                <a:latin typeface="Arial"/>
                <a:ea typeface="Arial"/>
                <a:cs typeface="Arial"/>
              </a:rPr>
              <a:t>Benefits of the solution (social, economic, environmental, etc.)</a:t>
            </a:r>
          </a:p>
          <a:p>
            <a:pPr algn="l" marL="0">
              <a:lnSpc>
                <a:spcPct val="100000"/>
              </a:lnSpc>
            </a:pPr>
            <a:r>
              <a:rPr lang="en-US" sz="11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Warning text is human-reviewed, never raw machine translation. No invented statistics: impact is measured in the pilot — can users state the action, how fast, does every card replay.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27432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841480" y="6035040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Zencoderss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tile"/>
          <p:cNvSpPr>
            <a:spLocks noChangeAspect="0"/>
          </p:cNvSpPr>
          <p:nvPr/>
        </p:nvSpPr>
        <p:spPr>
          <a:xfrm>
            <a:off x="612648" y="960120"/>
            <a:ext cx="2121408" cy="65836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IMD</a:t>
            </a:r>
          </a:p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official · keyed API</a:t>
            </a:r>
          </a:p>
        </p:txBody>
      </p:sp>
      <p:sp>
        <p:nvSpPr>
          <p:cNvPr id="17413" name="tile"/>
          <p:cNvSpPr>
            <a:spLocks noChangeAspect="0"/>
          </p:cNvSpPr>
          <p:nvPr/>
        </p:nvSpPr>
        <p:spPr>
          <a:xfrm>
            <a:off x="2843784" y="960120"/>
            <a:ext cx="2121408" cy="658368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CPCB</a:t>
            </a:r>
          </a:p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official · labelled adapter</a:t>
            </a:r>
          </a:p>
        </p:txBody>
      </p:sp>
      <p:sp>
        <p:nvSpPr>
          <p:cNvPr id="17414" name="tile"/>
          <p:cNvSpPr>
            <a:spLocks noChangeAspect="0"/>
          </p:cNvSpPr>
          <p:nvPr/>
        </p:nvSpPr>
        <p:spPr>
          <a:xfrm>
            <a:off x="5074920" y="960120"/>
            <a:ext cx="2121408" cy="658368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Copernicus</a:t>
            </a:r>
          </a:p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official · labelled</a:t>
            </a:r>
          </a:p>
        </p:txBody>
      </p:sp>
      <p:sp>
        <p:nvSpPr>
          <p:cNvPr id="17415" name="tile"/>
          <p:cNvSpPr>
            <a:spLocks noChangeAspect="0"/>
          </p:cNvSpPr>
          <p:nvPr/>
        </p:nvSpPr>
        <p:spPr>
          <a:xfrm>
            <a:off x="7306056" y="960120"/>
            <a:ext cx="2121408" cy="658368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MeitY UX4G</a:t>
            </a:r>
          </a:p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 standard</a:t>
            </a:r>
          </a:p>
        </p:txBody>
      </p:sp>
      <p:sp>
        <p:nvSpPr>
          <p:cNvPr id="17416" name="tile"/>
          <p:cNvSpPr>
            <a:spLocks noChangeAspect="0"/>
          </p:cNvSpPr>
          <p:nvPr/>
        </p:nvSpPr>
        <p:spPr>
          <a:xfrm>
            <a:off x="9537192" y="960120"/>
            <a:ext cx="2121408" cy="658368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txBody>
          <a:bodyPr anchor="ctr" wrap="square">
            <a:normAutofit/>
          </a:bodyPr>
          <a:lstStyle/>
          <a:p>
            <a:pPr algn="ctr" marL="0">
              <a:lnSpc>
                <a:spcPct val="100000"/>
              </a:lnSpc>
            </a:pPr>
            <a:r>
              <a:rPr lang="en-US" sz="11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Our mock</a:t>
            </a:r>
          </a:p>
          <a:p>
            <a:pPr algn="ctr" marL="0">
              <a:lnSpc>
                <a:spcPct val="100000"/>
              </a:lnSpc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32 tests · replay</a:t>
            </a:r>
          </a:p>
        </p:txBody>
      </p:sp>
      <p:sp>
        <p:nvSpPr>
          <p:cNvPr id="17417" name="ref"/>
          <p:cNvSpPr>
            <a:spLocks noChangeAspect="0"/>
          </p:cNvSpPr>
          <p:nvPr/>
        </p:nvSpPr>
        <p:spPr>
          <a:xfrm>
            <a:off x="612648" y="1737360"/>
            <a:ext cx="10954512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1.  IMD API reference + portal user guide (key, hourly JWT, static IP)</a:t>
            </a:r>
            <a:r>
              <a:rPr lang="en-US" sz="1000" dirty="0">
                <a:solidFill>
                  <a:srgbClr val="4F81BD"/>
                </a:solidFill>
                <a:latin typeface="Arial"/>
                <a:ea typeface="Arial"/>
                <a:cs typeface="Arial"/>
              </a:rPr>
              <a:t>  api.imd.gov.in</a:t>
            </a:r>
          </a:p>
        </p:txBody>
      </p:sp>
      <p:sp>
        <p:nvSpPr>
          <p:cNvPr id="17418" name="ref"/>
          <p:cNvSpPr>
            <a:spLocks noChangeAspect="0"/>
          </p:cNvSpPr>
          <p:nvPr/>
        </p:nvSpPr>
        <p:spPr>
          <a:xfrm>
            <a:off x="612648" y="2359152"/>
            <a:ext cx="1095451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2.  CPCB real-time AQI, GODL</a:t>
            </a:r>
            <a:r>
              <a:rPr lang="en-US" sz="1000" dirty="0">
                <a:solidFill>
                  <a:srgbClr val="4F81BD"/>
                </a:solidFill>
                <a:latin typeface="Arial"/>
                <a:ea typeface="Arial"/>
                <a:cs typeface="Arial"/>
              </a:rPr>
              <a:t>  data.gov.in</a:t>
            </a:r>
          </a:p>
        </p:txBody>
      </p:sp>
      <p:sp>
        <p:nvSpPr>
          <p:cNvPr id="17419" name="ref"/>
          <p:cNvSpPr>
            <a:spLocks noChangeAspect="0"/>
          </p:cNvSpPr>
          <p:nvPr/>
        </p:nvSpPr>
        <p:spPr>
          <a:xfrm>
            <a:off x="612648" y="2980944"/>
            <a:ext cx="10954512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3.  Copernicus CAMS atmosphere data store</a:t>
            </a:r>
            <a:r>
              <a:rPr lang="en-US" sz="1000" dirty="0">
                <a:solidFill>
                  <a:srgbClr val="4F81BD"/>
                </a:solidFill>
                <a:latin typeface="Arial"/>
                <a:ea typeface="Arial"/>
                <a:cs typeface="Arial"/>
              </a:rPr>
              <a:t>  ads.atmosphere.copernicus.eu</a:t>
            </a:r>
          </a:p>
        </p:txBody>
      </p:sp>
      <p:sp>
        <p:nvSpPr>
          <p:cNvPr id="17420" name="ref"/>
          <p:cNvSpPr>
            <a:spLocks noChangeAspect="0"/>
          </p:cNvSpPr>
          <p:nvPr/>
        </p:nvSpPr>
        <p:spPr>
          <a:xfrm>
            <a:off x="612648" y="3602736"/>
            <a:ext cx="1095451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4.  MeitY UX4G design system + PIB Mausam note (2023)</a:t>
            </a:r>
            <a:r>
              <a:rPr lang="en-US" sz="1000" dirty="0">
                <a:solidFill>
                  <a:srgbClr val="4F81BD"/>
                </a:solidFill>
                <a:latin typeface="Arial"/>
                <a:ea typeface="Arial"/>
                <a:cs typeface="Arial"/>
              </a:rPr>
              <a:t>  ux4g.gov.in · pib.gov.in</a:t>
            </a:r>
          </a:p>
        </p:txBody>
      </p:sp>
      <p:sp>
        <p:nvSpPr>
          <p:cNvPr id="17421" name="ref"/>
          <p:cNvSpPr>
            <a:spLocks noChangeAspect="0"/>
          </p:cNvSpPr>
          <p:nvPr/>
        </p:nvSpPr>
        <p:spPr>
          <a:xfrm>
            <a:off x="612648" y="4224528"/>
            <a:ext cx="10954512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5.  Pai, N. et al. (2014), IMD Pune gridded rainfall 0.25°</a:t>
            </a:r>
            <a:r>
              <a:rPr lang="en-US" sz="1000" dirty="0">
                <a:solidFill>
                  <a:srgbClr val="4F81BD"/>
                </a:solidFill>
                <a:latin typeface="Arial"/>
                <a:ea typeface="Arial"/>
                <a:cs typeface="Arial"/>
              </a:rPr>
              <a:t>  published dataset</a:t>
            </a:r>
          </a:p>
        </p:txBody>
      </p:sp>
      <p:sp>
        <p:nvSpPr>
          <p:cNvPr id="17422" name="ref"/>
          <p:cNvSpPr>
            <a:spLocks noChangeAspect="0"/>
          </p:cNvSpPr>
          <p:nvPr/>
        </p:nvSpPr>
        <p:spPr>
          <a:xfrm>
            <a:off x="612648" y="4846320"/>
            <a:ext cx="1095451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6.  Mausam app: existing Damini lightning + Meghdoot crop modules</a:t>
            </a:r>
            <a:r>
              <a:rPr lang="en-US" sz="1000" dirty="0">
                <a:solidFill>
                  <a:srgbClr val="4F81BD"/>
                </a:solidFill>
                <a:latin typeface="Arial"/>
                <a:ea typeface="Arial"/>
                <a:cs typeface="Arial"/>
              </a:rPr>
              <a:t>  mausam.imd.gov.in</a:t>
            </a:r>
          </a:p>
        </p:txBody>
      </p:sp>
      <p:sp>
        <p:nvSpPr>
          <p:cNvPr id="17423" name="ref"/>
          <p:cNvSpPr>
            <a:spLocks noChangeAspect="0"/>
          </p:cNvSpPr>
          <p:nvPr/>
        </p:nvSpPr>
        <p:spPr>
          <a:xfrm>
            <a:off x="612648" y="5468112"/>
            <a:ext cx="10954512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t" wrap="square">
            <a:normAutofit/>
          </a:bodyPr>
          <a:lstStyle/>
          <a:p>
            <a:pPr algn="l" marL="0">
              <a:lnSpc>
                <a:spcPct val="100000"/>
              </a:lnSpc>
            </a:pPr>
            <a:r>
              <a:rPr lang="en-US" sz="1000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7.  Working mock, fixtures, replay tests (32 pass)</a:t>
            </a:r>
            <a:r>
              <a:rPr lang="en-US" sz="1000" dirty="0">
                <a:solidFill>
                  <a:srgbClr val="4F81BD"/>
                </a:solidFill>
                <a:latin typeface="Arial"/>
                <a:ea typeface="Arial"/>
                <a:cs typeface="Arial"/>
              </a:rPr>
              <a:t>  submission folder Mausam/docs/evidence (illustrative)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