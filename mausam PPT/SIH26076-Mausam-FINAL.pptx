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"1.0" encoding="UTF-8" standalone="yes"?>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3.xml.rels><?xml version="1.0" encoding="UTF-8" standalone="yes"?>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4.xml.rels><?xml version="1.0" encoding="UTF-8" standalone="yes"?>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6.xml.rels><?xml version="1.0" encoding="UTF-8" standalone="yes"?>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1841480" y="6035040"/>
            <a:ext cx="100" cy="100"/>
          </a:xfrm>
        </p:spPr>
        <p:txBody>
          <a:bodyPr/>
          <a:lstStyle/>
          <a:p>
            <a:pPr>
              <a:lnSpc>
                <a:spcPct val="100000"/>
              </a:lnSpc>
            </a:p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pPr>
              <a:lnSpc>
                <a:spcPct val="100000"/>
              </a:lnSpc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11841480" y="6035040"/>
            <a:ext cx="100" cy="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0000"/>
              </a:lnSpc>
            </a:p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9" name="heading_pill"/>
          <p:cNvSpPr>
            <a:spLocks noChangeAspect="0"/>
          </p:cNvSpPr>
          <p:nvPr/>
        </p:nvSpPr>
        <p:spPr>
          <a:xfrm>
            <a:off x="2666848" y="164592"/>
            <a:ext cx="6858000" cy="676656"/>
          </a:xfrm>
          <a:prstGeom prst="roundRect">
            <a:avLst>
              <a:gd name="adj" fmla="val 50000"/>
            </a:avLst>
          </a:prstGeom>
          <a:solidFill>
            <a:srgbClr val="003366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2400" b="1" dirty="0">
                <a:solidFill>
                  <a:srgbClr val="FFFFFF"/>
                </a:solidFill>
                <a:latin typeface="Arial Black"/>
                <a:ea typeface="Arial Black"/>
                <a:cs typeface="Arial Black"/>
              </a:rPr>
              <a:t>SMART INDIA HACKATHON 2026</a:t>
            </a:r>
          </a:p>
        </p:txBody>
      </p:sp>
      <p:sp>
        <p:nvSpPr>
          <p:cNvPr id="40" name="panel"/>
          <p:cNvSpPr>
            <a:spLocks noChangeAspect="0"/>
          </p:cNvSpPr>
          <p:nvPr/>
        </p:nvSpPr>
        <p:spPr>
          <a:xfrm>
            <a:off x="603504" y="1965960"/>
            <a:ext cx="7589520" cy="22860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000000"/>
            </a:solidFill>
          </a:ln>
        </p:spPr>
        <p:txBody>
          <a:bodyPr anchor="t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500" b="1" dirty="0">
                <a:solidFill>
                  <a:srgbClr val="D92B2B"/>
                </a:solidFill>
                <a:latin typeface="Arial"/>
                <a:ea typeface="Arial"/>
                <a:cs typeface="Arial"/>
              </a:rPr>
              <a:t>Problem Statement ID – </a:t>
            </a:r>
            <a:r>
              <a:rPr lang="en-US" sz="1500" b="1" dirty="0">
                <a:solidFill>
                  <a:srgbClr val="003366"/>
                </a:solidFill>
                <a:latin typeface="Arial"/>
                <a:ea typeface="Arial"/>
                <a:cs typeface="Arial"/>
              </a:rPr>
              <a:t>SIH26076</a:t>
            </a:r>
          </a:p>
          <a:p>
            <a:pPr algn="l">
              <a:lnSpc>
                <a:spcPct val="100000"/>
              </a:lnSpc>
            </a:pPr>
            <a:r>
              <a:rPr lang="en-US" sz="1500" b="1" dirty="0">
                <a:solidFill>
                  <a:srgbClr val="D92B2B"/>
                </a:solidFill>
                <a:latin typeface="Arial"/>
                <a:ea typeface="Arial"/>
                <a:cs typeface="Arial"/>
              </a:rPr>
              <a:t>Problem Statement Title – </a:t>
            </a:r>
            <a:r>
              <a:rPr lang="en-US" sz="1500" b="1" dirty="0">
                <a:solidFill>
                  <a:srgbClr val="003366"/>
                </a:solidFill>
                <a:latin typeface="Arial"/>
                <a:ea typeface="Arial"/>
                <a:cs typeface="Arial"/>
              </a:rPr>
              <a:t>Personalised homepage for the Mausam mobile application</a:t>
            </a:r>
          </a:p>
          <a:p>
            <a:pPr algn="l">
              <a:lnSpc>
                <a:spcPct val="100000"/>
              </a:lnSpc>
            </a:pPr>
            <a:r>
              <a:rPr lang="en-US" sz="1500" b="1" dirty="0">
                <a:solidFill>
                  <a:srgbClr val="D92B2B"/>
                </a:solidFill>
                <a:latin typeface="Arial"/>
                <a:ea typeface="Arial"/>
                <a:cs typeface="Arial"/>
              </a:rPr>
              <a:t>Theme – </a:t>
            </a:r>
            <a:r>
              <a:rPr lang="en-US" sz="1500" b="1" dirty="0">
                <a:solidFill>
                  <a:srgbClr val="003366"/>
                </a:solidFill>
                <a:latin typeface="Arial"/>
                <a:ea typeface="Arial"/>
                <a:cs typeface="Arial"/>
              </a:rPr>
              <a:t>Smart Automation</a:t>
            </a:r>
          </a:p>
          <a:p>
            <a:pPr algn="l">
              <a:lnSpc>
                <a:spcPct val="100000"/>
              </a:lnSpc>
            </a:pPr>
            <a:r>
              <a:rPr lang="en-US" sz="1500" b="1" dirty="0">
                <a:solidFill>
                  <a:srgbClr val="D92B2B"/>
                </a:solidFill>
                <a:latin typeface="Arial"/>
                <a:ea typeface="Arial"/>
                <a:cs typeface="Arial"/>
              </a:rPr>
              <a:t>PS Category – </a:t>
            </a:r>
            <a:r>
              <a:rPr lang="en-US" sz="1500" b="1" dirty="0">
                <a:solidFill>
                  <a:srgbClr val="003366"/>
                </a:solidFill>
                <a:latin typeface="Arial"/>
                <a:ea typeface="Arial"/>
                <a:cs typeface="Arial"/>
              </a:rPr>
              <a:t>Software</a:t>
            </a:r>
          </a:p>
          <a:p>
            <a:pPr algn="l">
              <a:lnSpc>
                <a:spcPct val="100000"/>
              </a:lnSpc>
            </a:pPr>
            <a:r>
              <a:rPr lang="en-US" sz="1500" b="1" dirty="0">
                <a:solidFill>
                  <a:srgbClr val="D92B2B"/>
                </a:solidFill>
                <a:latin typeface="Arial"/>
                <a:ea typeface="Arial"/>
                <a:cs typeface="Arial"/>
              </a:rPr>
              <a:t>Team ID – </a:t>
            </a:r>
            <a:r>
              <a:rPr lang="en-US" sz="1500" b="1" dirty="0">
                <a:solidFill>
                  <a:srgbClr val="003366"/>
                </a:solidFill>
                <a:latin typeface="Arial"/>
                <a:ea typeface="Arial"/>
                <a:cs typeface="Arial"/>
              </a:rPr>
              <a:t>195697</a:t>
            </a:r>
          </a:p>
          <a:p>
            <a:pPr algn="l">
              <a:lnSpc>
                <a:spcPct val="100000"/>
              </a:lnSpc>
            </a:pPr>
            <a:r>
              <a:rPr lang="en-US" sz="1500" b="1" dirty="0">
                <a:solidFill>
                  <a:srgbClr val="D92B2B"/>
                </a:solidFill>
                <a:latin typeface="Arial"/>
                <a:ea typeface="Arial"/>
                <a:cs typeface="Arial"/>
              </a:rPr>
              <a:t>Team Name – </a:t>
            </a:r>
            <a:r>
              <a:rPr lang="en-US" sz="1500" b="1" dirty="0">
                <a:solidFill>
                  <a:srgbClr val="003366"/>
                </a:solidFill>
                <a:latin typeface="Arial"/>
                <a:ea typeface="Arial"/>
                <a:cs typeface="Arial"/>
              </a:rPr>
              <a:t>Zencoderss</a:t>
            </a:r>
          </a:p>
          <a:p>
            <a:pPr algn="l">
              <a:lnSpc>
                <a:spcPct val="100000"/>
              </a:lnSpc>
            </a:pPr>
            <a:r>
              <a:rPr lang="en-US" sz="1500" b="1" dirty="0">
                <a:solidFill>
                  <a:srgbClr val="D92B2B"/>
                </a:solidFill>
                <a:latin typeface="Arial"/>
                <a:ea typeface="Arial"/>
                <a:cs typeface="Arial"/>
              </a:rPr>
              <a:t>Organisation – </a:t>
            </a:r>
            <a:r>
              <a:rPr lang="en-US" sz="1500" b="1" dirty="0">
                <a:solidFill>
                  <a:srgbClr val="003366"/>
                </a:solidFill>
                <a:latin typeface="Arial"/>
                <a:ea typeface="Arial"/>
                <a:cs typeface="Arial"/>
              </a:rPr>
              <a:t>Ministry of Earth Sciences (IMD)</a:t>
            </a:r>
          </a:p>
        </p:txBody>
      </p:sp>
      <p:sp>
        <p:nvSpPr>
          <p:cNvPr id="41" name="accent"/>
          <p:cNvSpPr>
            <a:spLocks noChangeAspect="0"/>
          </p:cNvSpPr>
          <p:nvPr/>
        </p:nvSpPr>
        <p:spPr>
          <a:xfrm>
            <a:off x="603504" y="4462272"/>
            <a:ext cx="7589520" cy="82296"/>
          </a:xfrm>
          <a:prstGeom prst="rect">
            <a:avLst/>
          </a:prstGeom>
          <a:solidFill>
            <a:srgbClr val="F79646"/>
          </a:solidFill>
          <a:ln>
            <a:noFill/>
          </a:ln>
        </p:spPr>
        <p:txBody>
          <a:bodyPr anchor="t" wrap="square">
            <a:normAutofit/>
          </a:bodyPr>
          <a:lstStyle/>
          <a:p>
            <a:pPr>
              <a:lnSpc>
                <a:spcPct val="100000"/>
              </a:lnSpc>
            </a:pPr>
          </a:p>
        </p:txBody>
      </p:sp>
      <p:sp>
        <p:nvSpPr>
          <p:cNvPr id="42" name="ideatitle"/>
          <p:cNvSpPr>
            <a:spLocks noChangeAspect="0"/>
          </p:cNvSpPr>
          <p:nvPr/>
        </p:nvSpPr>
        <p:spPr>
          <a:xfrm>
            <a:off x="603504" y="4590288"/>
            <a:ext cx="7589520" cy="548640"/>
          </a:xfrm>
          <a:prstGeom prst="rect">
            <a:avLst/>
          </a:prstGeom>
          <a:noFill/>
          <a:ln>
            <a:noFill/>
          </a:ln>
        </p:spPr>
        <p:txBody>
          <a:bodyPr anchor="t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3000" b="1" dirty="0">
                <a:solidFill>
                  <a:srgbClr val="003366"/>
                </a:solidFill>
                <a:latin typeface="Arial Black"/>
                <a:ea typeface="Arial Black"/>
                <a:cs typeface="Arial Black"/>
              </a:rPr>
              <a:t>Mausam home: actions with proof</a:t>
            </a:r>
          </a:p>
        </p:txBody>
      </p:sp>
      <p:sp>
        <p:nvSpPr>
          <p:cNvPr id="43" name="tagline"/>
          <p:cNvSpPr>
            <a:spLocks noChangeAspect="0"/>
          </p:cNvSpPr>
          <p:nvPr/>
        </p:nvSpPr>
        <p:spPr>
          <a:xfrm>
            <a:off x="603504" y="5175504"/>
            <a:ext cx="7589520" cy="566928"/>
          </a:xfrm>
          <a:prstGeom prst="rect">
            <a:avLst/>
          </a:prstGeom>
          <a:noFill/>
          <a:ln>
            <a:noFill/>
          </a:ln>
        </p:spPr>
        <p:txBody>
          <a:bodyPr anchor="t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300" dirty="0">
                <a:solidFill>
                  <a:srgbClr val="595959"/>
                </a:solidFill>
                <a:latin typeface="Arial"/>
                <a:ea typeface="Arial"/>
                <a:cs typeface="Arial"/>
              </a:rPr>
              <a:t>Every number shows its source, station, issue time and age. Every advisory can be re-derived by hand.</a:t>
            </a:r>
          </a:p>
        </p:txBody>
      </p:sp>
      <p:pic>
        <p:nvPicPr>
          <p:cNvPr id="44" name="productshot"/>
          <p:cNvPicPr/>
        </p:nvPicPr>
        <p:blipFill>
          <a:blip r:embed="rId4"/>
          <a:stretch>
            <a:fillRect/>
          </a:stretch>
        </p:blipFill>
        <p:spPr>
          <a:xfrm>
            <a:off x="8595360" y="1143000"/>
            <a:ext cx="2240280" cy="4846320"/>
          </a:xfrm>
          <a:prstGeom prst="roundRect">
            <a:avLst/>
          </a:prstGeom>
          <a:noFill/>
          <a:ln w="19050">
            <a:solidFill>
              <a:srgbClr val="000000"/>
            </a:solidFill>
          </a:ln>
        </p:spPr>
      </p:pic>
      <p:sp>
        <p:nvSpPr>
          <p:cNvPr id="45" name="chip"/>
          <p:cNvSpPr>
            <a:spLocks noChangeAspect="0"/>
          </p:cNvSpPr>
          <p:nvPr/>
        </p:nvSpPr>
        <p:spPr>
          <a:xfrm>
            <a:off x="8366760" y="6035040"/>
            <a:ext cx="2697480" cy="292608"/>
          </a:xfrm>
          <a:prstGeom prst="roundRect">
            <a:avLst>
              <a:gd name="adj" fmla="val 50000"/>
            </a:avLst>
          </a:prstGeom>
          <a:solidFill>
            <a:srgbClr val="F6E43B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7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WORKING PROTOTYPE · HOME (ILLUSTRATIVE)</a:t>
            </a:r>
          </a:p>
        </p:txBody>
      </p:sp>
      <p:pic>
        <p:nvPicPr>
          <p:cNvPr id="46" name="demoqr"/>
          <p:cNvPicPr/>
        </p:nvPicPr>
        <p:blipFill>
          <a:blip r:embed="rId5"/>
          <a:stretch>
            <a:fillRect/>
          </a:stretch>
        </p:blipFill>
        <p:spPr>
          <a:xfrm>
            <a:off x="603504" y="5797296"/>
            <a:ext cx="530352" cy="530352"/>
          </a:xfrm>
          <a:prstGeom prst="roundRect">
            <a:avLst/>
          </a:prstGeom>
          <a:noFill/>
          <a:ln>
            <a:noFill/>
          </a:ln>
        </p:spPr>
      </p:pic>
      <p:sp>
        <p:nvSpPr>
          <p:cNvPr id="47" name="demolink"/>
          <p:cNvSpPr>
            <a:spLocks noChangeAspect="0"/>
          </p:cNvSpPr>
          <p:nvPr/>
        </p:nvSpPr>
        <p:spPr>
          <a:xfrm>
            <a:off x="1261872" y="5797296"/>
            <a:ext cx="6931152" cy="530352"/>
          </a:xfrm>
          <a:prstGeom prst="rect">
            <a:avLst/>
          </a:prstGeom>
          <a:noFill/>
          <a:ln>
            <a:noFill/>
          </a:ln>
        </p:spPr>
        <p:txBody>
          <a:bodyPr anchor="t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000" b="1" dirty="0">
                <a:solidFill>
                  <a:srgbClr val="003366"/>
                </a:solidFill>
                <a:latin typeface="Arial Black"/>
                <a:ea typeface="Arial Black"/>
                <a:cs typeface="Arial Black"/>
              </a:rPr>
              <a:t>LIVE DEMO   </a:t>
            </a:r>
            <a:r>
              <a:rPr lang="en-US" sz="900" b="1" u="sng" dirty="0">
                <a:solidFill>
                  <a:srgbClr val="1A44E8"/>
                </a:solidFill>
                <a:latin typeface="Arial"/>
                <a:ea typeface="Arial"/>
                <a:cs typeface="Arial"/>
              </a:rPr>
              <a:t>https://mausam-sih26076-devanshdhangar70-7520s-projects.vercel.app/</a:t>
            </a:r>
          </a:p>
          <a:p>
            <a:pPr algn="l">
              <a:lnSpc>
                <a:spcPct val="100000"/>
              </a:lnSpc>
            </a:pPr>
            <a:r>
              <a:rPr lang="en-US" sz="850" dirty="0">
                <a:solidFill>
                  <a:srgbClr val="595959"/>
                </a:solidFill>
                <a:latin typeface="Arial"/>
                <a:ea typeface="Arial"/>
                <a:cs typeface="Arial"/>
              </a:rPr>
              <a:t>Guest-first PWA · works offline · English and Hindi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1841480" y="6035040"/>
            <a:ext cx="100" cy="100"/>
          </a:xfrm>
        </p:spPr>
        <p:txBody>
          <a:bodyPr/>
          <a:lstStyle/>
          <a:p>
            <a:pPr>
              <a:lnSpc>
                <a:spcPct val="100000"/>
              </a:lnSpc>
            </a:pP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-1" y="2064921"/>
            <a:ext cx="12191999" cy="24929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11841480" y="6035040"/>
            <a:ext cx="100" cy="100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783080" cy="804672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rgbClr val="003366"/>
                </a:solidFill>
              </a:rPr>
              <a:t>Zencoderss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4" name="heading_pill"/>
          <p:cNvSpPr>
            <a:spLocks noChangeAspect="0"/>
          </p:cNvSpPr>
          <p:nvPr/>
        </p:nvSpPr>
        <p:spPr>
          <a:xfrm>
            <a:off x="4495648" y="164592"/>
            <a:ext cx="3200400" cy="676656"/>
          </a:xfrm>
          <a:prstGeom prst="roundRect">
            <a:avLst>
              <a:gd name="adj" fmla="val 50000"/>
            </a:avLst>
          </a:prstGeom>
          <a:solidFill>
            <a:srgbClr val="2E9E4F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2400" b="1" dirty="0">
                <a:solidFill>
                  <a:srgbClr val="FFFFFF"/>
                </a:solidFill>
                <a:latin typeface="Arial Black"/>
                <a:ea typeface="Arial Black"/>
                <a:cs typeface="Arial Black"/>
              </a:rPr>
              <a:t>IDEA TITLE</a:t>
            </a:r>
          </a:p>
        </p:txBody>
      </p:sp>
      <p:sp>
        <p:nvSpPr>
          <p:cNvPr id="15365" name="ideatitle"/>
          <p:cNvSpPr>
            <a:spLocks noChangeAspect="0"/>
          </p:cNvSpPr>
          <p:nvPr/>
        </p:nvSpPr>
        <p:spPr>
          <a:xfrm>
            <a:off x="612648" y="914400"/>
            <a:ext cx="10972800" cy="310896"/>
          </a:xfrm>
          <a:prstGeom prst="rect">
            <a:avLst/>
          </a:prstGeom>
          <a:noFill/>
          <a:ln>
            <a:noFill/>
          </a:ln>
        </p:spPr>
        <p:txBody>
          <a:bodyPr anchor="t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600" b="1" dirty="0">
                <a:solidFill>
                  <a:srgbClr val="003366"/>
                </a:solidFill>
                <a:latin typeface="Arial Black"/>
                <a:ea typeface="Arial Black"/>
                <a:cs typeface="Arial Black"/>
              </a:rPr>
              <a:t>Mausam home: actions with proof</a:t>
            </a:r>
          </a:p>
        </p:txBody>
      </p:sp>
      <p:sp>
        <p:nvSpPr>
          <p:cNvPr id="15366" name="chip"/>
          <p:cNvSpPr>
            <a:spLocks noChangeAspect="0"/>
          </p:cNvSpPr>
          <p:nvPr/>
        </p:nvSpPr>
        <p:spPr>
          <a:xfrm>
            <a:off x="612648" y="1417320"/>
            <a:ext cx="3627310" cy="256032"/>
          </a:xfrm>
          <a:prstGeom prst="roundRect">
            <a:avLst>
              <a:gd name="adj" fmla="val 50000"/>
            </a:avLst>
          </a:prstGeom>
          <a:solidFill>
            <a:srgbClr val="003366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75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Proposed Solution (Describe your Idea/Solution/Prototype)</a:t>
            </a:r>
          </a:p>
        </p:txBody>
      </p:sp>
      <p:sp>
        <p:nvSpPr>
          <p:cNvPr id="15367" name="panel"/>
          <p:cNvSpPr>
            <a:spLocks noChangeAspect="0"/>
          </p:cNvSpPr>
          <p:nvPr/>
        </p:nvSpPr>
        <p:spPr>
          <a:xfrm>
            <a:off x="612648" y="1691640"/>
            <a:ext cx="3886200" cy="621792"/>
          </a:xfrm>
          <a:prstGeom prst="roundRect">
            <a:avLst/>
          </a:prstGeom>
          <a:solidFill>
            <a:srgbClr val="D9EAFB"/>
          </a:solidFill>
          <a:ln w="19050">
            <a:solidFill>
              <a:srgbClr val="000000"/>
            </a:solidFill>
          </a:ln>
        </p:spPr>
        <p:txBody>
          <a:bodyPr anchor="t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950" dirty="0">
                <a:solidFill>
                  <a:srgbClr val="1A1A1A"/>
                </a:solidFill>
                <a:latin typeface="Arial"/>
                <a:ea typeface="Arial"/>
                <a:cs typeface="Arial"/>
              </a:rPr>
              <a:t>A home screen that adapts to you: map on top, action cards below.</a:t>
            </a:r>
          </a:p>
        </p:txBody>
      </p:sp>
      <p:sp>
        <p:nvSpPr>
          <p:cNvPr id="15368" name="chip"/>
          <p:cNvSpPr>
            <a:spLocks noChangeAspect="0"/>
          </p:cNvSpPr>
          <p:nvPr/>
        </p:nvSpPr>
        <p:spPr>
          <a:xfrm>
            <a:off x="612648" y="2441448"/>
            <a:ext cx="2948368" cy="256032"/>
          </a:xfrm>
          <a:prstGeom prst="roundRect">
            <a:avLst>
              <a:gd name="adj" fmla="val 50000"/>
            </a:avLst>
          </a:prstGeom>
          <a:solidFill>
            <a:srgbClr val="003366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75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Detailed explanation of the proposed solution</a:t>
            </a:r>
          </a:p>
        </p:txBody>
      </p:sp>
      <p:sp>
        <p:nvSpPr>
          <p:cNvPr id="15369" name="panel"/>
          <p:cNvSpPr>
            <a:spLocks noChangeAspect="0"/>
          </p:cNvSpPr>
          <p:nvPr/>
        </p:nvSpPr>
        <p:spPr>
          <a:xfrm>
            <a:off x="612648" y="2715768"/>
            <a:ext cx="3886200" cy="621792"/>
          </a:xfrm>
          <a:prstGeom prst="roundRect">
            <a:avLst/>
          </a:prstGeom>
          <a:solidFill>
            <a:srgbClr val="D9EAFB"/>
          </a:solidFill>
          <a:ln w="19050">
            <a:solidFill>
              <a:srgbClr val="000000"/>
            </a:solidFill>
          </a:ln>
        </p:spPr>
        <p:txBody>
          <a:bodyPr anchor="t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950" dirty="0">
                <a:solidFill>
                  <a:srgbClr val="1A1A1A"/>
                </a:solidFill>
                <a:latin typeface="Arial"/>
                <a:ea typeface="Arial"/>
                <a:cs typeface="Arial"/>
              </a:rPr>
              <a:t>Onboarding picks your persona. The home reorders: the farmer sees sowing first, the commuter sees fog first.</a:t>
            </a:r>
          </a:p>
        </p:txBody>
      </p:sp>
      <p:sp>
        <p:nvSpPr>
          <p:cNvPr id="15370" name="chip"/>
          <p:cNvSpPr>
            <a:spLocks noChangeAspect="0"/>
          </p:cNvSpPr>
          <p:nvPr/>
        </p:nvSpPr>
        <p:spPr>
          <a:xfrm>
            <a:off x="612648" y="3465576"/>
            <a:ext cx="1986534" cy="256032"/>
          </a:xfrm>
          <a:prstGeom prst="roundRect">
            <a:avLst>
              <a:gd name="adj" fmla="val 50000"/>
            </a:avLst>
          </a:prstGeom>
          <a:solidFill>
            <a:srgbClr val="003366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75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How it addresses the problem</a:t>
            </a:r>
          </a:p>
        </p:txBody>
      </p:sp>
      <p:sp>
        <p:nvSpPr>
          <p:cNvPr id="15371" name="panel"/>
          <p:cNvSpPr>
            <a:spLocks noChangeAspect="0"/>
          </p:cNvSpPr>
          <p:nvPr/>
        </p:nvSpPr>
        <p:spPr>
          <a:xfrm>
            <a:off x="612648" y="3739896"/>
            <a:ext cx="3886200" cy="621792"/>
          </a:xfrm>
          <a:prstGeom prst="roundRect">
            <a:avLst/>
          </a:prstGeom>
          <a:solidFill>
            <a:srgbClr val="D9EAFB"/>
          </a:solidFill>
          <a:ln w="19050">
            <a:solidFill>
              <a:srgbClr val="000000"/>
            </a:solidFill>
          </a:ln>
        </p:spPr>
        <p:txBody>
          <a:bodyPr anchor="t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950" dirty="0">
                <a:solidFill>
                  <a:srgbClr val="1A1A1A"/>
                </a:solidFill>
                <a:latin typeface="Arial"/>
                <a:ea typeface="Arial"/>
                <a:cs typeface="Arial"/>
              </a:rPr>
              <a:t>Every card says what to do, shows the readings behind it, and names its source, station and age.</a:t>
            </a:r>
          </a:p>
        </p:txBody>
      </p:sp>
      <p:sp>
        <p:nvSpPr>
          <p:cNvPr id="15372" name="chip"/>
          <p:cNvSpPr>
            <a:spLocks noChangeAspect="0"/>
          </p:cNvSpPr>
          <p:nvPr/>
        </p:nvSpPr>
        <p:spPr>
          <a:xfrm>
            <a:off x="612648" y="4489704"/>
            <a:ext cx="2722054" cy="256032"/>
          </a:xfrm>
          <a:prstGeom prst="roundRect">
            <a:avLst>
              <a:gd name="adj" fmla="val 50000"/>
            </a:avLst>
          </a:prstGeom>
          <a:solidFill>
            <a:srgbClr val="003366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75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Innovation and uniqueness of the solution</a:t>
            </a:r>
          </a:p>
        </p:txBody>
      </p:sp>
      <p:sp>
        <p:nvSpPr>
          <p:cNvPr id="15373" name="panel"/>
          <p:cNvSpPr>
            <a:spLocks noChangeAspect="0"/>
          </p:cNvSpPr>
          <p:nvPr/>
        </p:nvSpPr>
        <p:spPr>
          <a:xfrm>
            <a:off x="612648" y="4764024"/>
            <a:ext cx="3886200" cy="621792"/>
          </a:xfrm>
          <a:prstGeom prst="roundRect">
            <a:avLst/>
          </a:prstGeom>
          <a:solidFill>
            <a:srgbClr val="D9EAFB"/>
          </a:solidFill>
          <a:ln w="19050">
            <a:solidFill>
              <a:srgbClr val="000000"/>
            </a:solidFill>
          </a:ln>
        </p:spPr>
        <p:txBody>
          <a:bodyPr anchor="t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950" dirty="0">
                <a:solidFill>
                  <a:srgbClr val="1A1A1A"/>
                </a:solidFill>
                <a:latin typeface="Arial"/>
                <a:ea typeface="Arial"/>
                <a:cs typeface="Arial"/>
              </a:rPr>
              <a:t>Source on every number. Replayable advice. Honest gaps where data is missing. A grounded bot that never invents numbers.</a:t>
            </a:r>
          </a:p>
        </p:txBody>
      </p:sp>
      <p:pic>
        <p:nvPicPr>
          <p:cNvPr id="15374" name="shot-home"/>
          <p:cNvPicPr/>
        </p:nvPicPr>
        <p:blipFill>
          <a:blip r:embed="rId4"/>
          <a:stretch>
            <a:fillRect/>
          </a:stretch>
        </p:blipFill>
        <p:spPr>
          <a:xfrm>
            <a:off x="4709160" y="1417320"/>
            <a:ext cx="1554480" cy="3364992"/>
          </a:xfrm>
          <a:prstGeom prst="roundRect">
            <a:avLst/>
          </a:prstGeom>
          <a:noFill/>
          <a:ln w="19050">
            <a:solidFill>
              <a:srgbClr val="000000"/>
            </a:solidFill>
          </a:ln>
        </p:spPr>
      </p:pic>
      <p:pic>
        <p:nvPicPr>
          <p:cNvPr id="15375" name="shot-prov"/>
          <p:cNvPicPr/>
        </p:nvPicPr>
        <p:blipFill>
          <a:blip r:embed="rId5"/>
          <a:stretch>
            <a:fillRect/>
          </a:stretch>
        </p:blipFill>
        <p:spPr>
          <a:xfrm>
            <a:off x="6446520" y="1417320"/>
            <a:ext cx="1554480" cy="3364992"/>
          </a:xfrm>
          <a:prstGeom prst="roundRect">
            <a:avLst/>
          </a:prstGeom>
          <a:noFill/>
          <a:ln w="19050">
            <a:solidFill>
              <a:srgbClr val="000000"/>
            </a:solidFill>
          </a:ln>
        </p:spPr>
      </p:pic>
      <p:sp>
        <p:nvSpPr>
          <p:cNvPr id="15376" name="chip"/>
          <p:cNvSpPr>
            <a:spLocks noChangeAspect="0"/>
          </p:cNvSpPr>
          <p:nvPr/>
        </p:nvSpPr>
        <p:spPr>
          <a:xfrm>
            <a:off x="4709160" y="484632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6E43B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7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HOME · MAP + ACTIONS</a:t>
            </a:r>
          </a:p>
        </p:txBody>
      </p:sp>
      <p:sp>
        <p:nvSpPr>
          <p:cNvPr id="15377" name="chip"/>
          <p:cNvSpPr>
            <a:spLocks noChangeAspect="0"/>
          </p:cNvSpPr>
          <p:nvPr/>
        </p:nvSpPr>
        <p:spPr>
          <a:xfrm>
            <a:off x="6446520" y="484632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6E43B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7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TAP ⓘ → PROVENANCE</a:t>
            </a:r>
          </a:p>
        </p:txBody>
      </p:sp>
      <p:sp>
        <p:nvSpPr>
          <p:cNvPr id="15378" name="panel"/>
          <p:cNvSpPr>
            <a:spLocks noChangeAspect="0"/>
          </p:cNvSpPr>
          <p:nvPr/>
        </p:nvSpPr>
        <p:spPr>
          <a:xfrm>
            <a:off x="8229600" y="1417320"/>
            <a:ext cx="3337560" cy="1188720"/>
          </a:xfrm>
          <a:prstGeom prst="roundRect">
            <a:avLst/>
          </a:prstGeom>
          <a:solidFill>
            <a:srgbClr val="003366"/>
          </a:solidFill>
          <a:ln w="19050">
            <a:solidFill>
              <a:srgbClr val="003366"/>
            </a:solidFill>
          </a:ln>
        </p:spPr>
        <p:txBody>
          <a:bodyPr anchor="t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3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Source on every number</a:t>
            </a:r>
          </a:p>
          <a:p>
            <a:pPr algn="l">
              <a:lnSpc>
                <a:spcPct val="100000"/>
              </a:lnSpc>
            </a:pPr>
            <a:r>
              <a:rPr lang="en-US" sz="95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station + issue time + age on each reading; tap ⓘ for the full provenance sheet</a:t>
            </a:r>
          </a:p>
        </p:txBody>
      </p:sp>
      <p:sp>
        <p:nvSpPr>
          <p:cNvPr id="15379" name="panel"/>
          <p:cNvSpPr>
            <a:spLocks noChangeAspect="0"/>
          </p:cNvSpPr>
          <p:nvPr/>
        </p:nvSpPr>
        <p:spPr>
          <a:xfrm>
            <a:off x="8229600" y="2761488"/>
            <a:ext cx="3337560" cy="914400"/>
          </a:xfrm>
          <a:prstGeom prst="roundRect">
            <a:avLst/>
          </a:prstGeom>
          <a:solidFill>
            <a:srgbClr val="D9EAFB"/>
          </a:solidFill>
          <a:ln w="19050">
            <a:solidFill>
              <a:srgbClr val="000000"/>
            </a:solidFill>
          </a:ln>
        </p:spPr>
        <p:txBody>
          <a:bodyPr anchor="t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100" b="1" dirty="0">
                <a:solidFill>
                  <a:srgbClr val="1A1A1A"/>
                </a:solidFill>
                <a:latin typeface="Arial"/>
                <a:ea typeface="Arial"/>
                <a:cs typeface="Arial"/>
              </a:rPr>
              <a:t>Advice you can replay</a:t>
            </a:r>
          </a:p>
          <a:p>
            <a:pPr algn="l">
              <a:lnSpc>
                <a:spcPct val="100000"/>
              </a:lnSpc>
            </a:pPr>
            <a:r>
              <a:rPr lang="en-US" sz="950" dirty="0">
                <a:solidFill>
                  <a:srgbClr val="595959"/>
                </a:solidFill>
                <a:latin typeface="Arial"/>
                <a:ea typeface="Arial"/>
                <a:cs typeface="Arial"/>
              </a:rPr>
              <a:t>same data → same card, byte-identical</a:t>
            </a:r>
          </a:p>
        </p:txBody>
      </p:sp>
      <p:sp>
        <p:nvSpPr>
          <p:cNvPr id="15380" name="panel"/>
          <p:cNvSpPr>
            <a:spLocks noChangeAspect="0"/>
          </p:cNvSpPr>
          <p:nvPr/>
        </p:nvSpPr>
        <p:spPr>
          <a:xfrm>
            <a:off x="8229600" y="3803904"/>
            <a:ext cx="3337560" cy="914400"/>
          </a:xfrm>
          <a:prstGeom prst="roundRect">
            <a:avLst/>
          </a:prstGeom>
          <a:solidFill>
            <a:srgbClr val="D9EAFB"/>
          </a:solidFill>
          <a:ln w="19050">
            <a:solidFill>
              <a:srgbClr val="000000"/>
            </a:solidFill>
          </a:ln>
        </p:spPr>
        <p:txBody>
          <a:bodyPr anchor="t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100" b="1" dirty="0">
                <a:solidFill>
                  <a:srgbClr val="1A1A1A"/>
                </a:solidFill>
                <a:latin typeface="Arial"/>
                <a:ea typeface="Arial"/>
                <a:cs typeface="Arial"/>
              </a:rPr>
              <a:t>Honest gaps, no guesses</a:t>
            </a:r>
          </a:p>
          <a:p>
            <a:pPr algn="l">
              <a:lnSpc>
                <a:spcPct val="100000"/>
              </a:lnSpc>
            </a:pPr>
            <a:r>
              <a:rPr lang="en-US" sz="950" dirty="0">
                <a:solidFill>
                  <a:srgbClr val="595959"/>
                </a:solidFill>
                <a:latin typeface="Arial"/>
                <a:ea typeface="Arial"/>
                <a:cs typeface="Arial"/>
              </a:rPr>
              <a:t>no data → a gap card, never a zero</a:t>
            </a:r>
          </a:p>
        </p:txBody>
      </p:sp>
      <p:sp>
        <p:nvSpPr>
          <p:cNvPr id="15381" name="chip"/>
          <p:cNvSpPr>
            <a:spLocks noChangeAspect="0"/>
          </p:cNvSpPr>
          <p:nvPr/>
        </p:nvSpPr>
        <p:spPr>
          <a:xfrm>
            <a:off x="8229600" y="4974336"/>
            <a:ext cx="3337560" cy="310896"/>
          </a:xfrm>
          <a:prstGeom prst="roundRect">
            <a:avLst>
              <a:gd name="adj" fmla="val 50000"/>
            </a:avLst>
          </a:prstGeom>
          <a:solidFill>
            <a:srgbClr val="E5399A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8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PERSONAS  ·  Commuter · Farmer · Health</a:t>
            </a:r>
          </a:p>
        </p:txBody>
      </p:sp>
      <p:sp>
        <p:nvSpPr>
          <p:cNvPr id="15382" name="panel"/>
          <p:cNvSpPr>
            <a:spLocks noChangeAspect="0"/>
          </p:cNvSpPr>
          <p:nvPr/>
        </p:nvSpPr>
        <p:spPr>
          <a:xfrm>
            <a:off x="612648" y="5650992"/>
            <a:ext cx="10954512" cy="640080"/>
          </a:xfrm>
          <a:prstGeom prst="roundRect">
            <a:avLst/>
          </a:prstGeom>
          <a:solidFill>
            <a:srgbClr val="003366"/>
          </a:solidFill>
          <a:ln w="19050">
            <a:solidFill>
              <a:srgbClr val="003366"/>
            </a:solidFill>
          </a:ln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1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Every number on this screen can tell you where it came from, when it was issued, and how old it is. Every advisory can be re-derived by hand.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11841480" y="6035040"/>
            <a:ext cx="100" cy="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783080" cy="804672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rgbClr val="003366"/>
                </a:solidFill>
              </a:rPr>
              <a:t>Zencoderss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2" name="heading_pill"/>
          <p:cNvSpPr>
            <a:spLocks noChangeAspect="0"/>
          </p:cNvSpPr>
          <p:nvPr/>
        </p:nvSpPr>
        <p:spPr>
          <a:xfrm>
            <a:off x="3581248" y="164592"/>
            <a:ext cx="5029200" cy="676656"/>
          </a:xfrm>
          <a:prstGeom prst="roundRect">
            <a:avLst>
              <a:gd name="adj" fmla="val 50000"/>
            </a:avLst>
          </a:prstGeom>
          <a:solidFill>
            <a:srgbClr val="003366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2400" b="1" dirty="0">
                <a:solidFill>
                  <a:srgbClr val="FFFFFF"/>
                </a:solidFill>
                <a:latin typeface="Arial Black"/>
                <a:ea typeface="Arial Black"/>
                <a:cs typeface="Arial Black"/>
              </a:rPr>
              <a:t>TECHNICAL APPROACH</a:t>
            </a:r>
          </a:p>
        </p:txBody>
      </p:sp>
      <p:sp>
        <p:nvSpPr>
          <p:cNvPr id="17413" name="chip"/>
          <p:cNvSpPr>
            <a:spLocks noChangeAspect="0"/>
          </p:cNvSpPr>
          <p:nvPr/>
        </p:nvSpPr>
        <p:spPr>
          <a:xfrm>
            <a:off x="612648" y="932688"/>
            <a:ext cx="6949440" cy="310896"/>
          </a:xfrm>
          <a:prstGeom prst="roundRect">
            <a:avLst>
              <a:gd name="adj" fmla="val 50000"/>
            </a:avLst>
          </a:prstGeom>
          <a:solidFill>
            <a:srgbClr val="003366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8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Technologies to be used (e.g. programming languages, frameworks, hardware)</a:t>
            </a:r>
          </a:p>
        </p:txBody>
      </p:sp>
      <p:sp>
        <p:nvSpPr>
          <p:cNvPr id="17414" name="pipe"/>
          <p:cNvSpPr>
            <a:spLocks noChangeAspect="0"/>
          </p:cNvSpPr>
          <p:nvPr/>
        </p:nvSpPr>
        <p:spPr>
          <a:xfrm>
            <a:off x="384048" y="1389888"/>
            <a:ext cx="1069848" cy="1280160"/>
          </a:xfrm>
          <a:prstGeom prst="roundRect">
            <a:avLst/>
          </a:prstGeom>
          <a:solidFill>
            <a:srgbClr val="4F81BD"/>
          </a:solidFill>
          <a:ln w="12700">
            <a:solidFill>
              <a:srgbClr val="000000"/>
            </a:solidFill>
          </a:ln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0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IMD DATA</a:t>
            </a:r>
          </a:p>
          <a:p>
            <a:pPr algn="ctr">
              <a:lnSpc>
                <a:spcPct val="100000"/>
              </a:lnSpc>
            </a:pPr>
            <a:r>
              <a:rPr lang="en-US" sz="85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28 keyed APIs
WFS · CAP feed</a:t>
            </a:r>
          </a:p>
        </p:txBody>
      </p:sp>
      <p:sp>
        <p:nvSpPr>
          <p:cNvPr id="17415" name="arr"/>
          <p:cNvSpPr>
            <a:spLocks noChangeAspect="0"/>
          </p:cNvSpPr>
          <p:nvPr/>
        </p:nvSpPr>
        <p:spPr>
          <a:xfrm>
            <a:off x="1472184" y="1901952"/>
            <a:ext cx="128016" cy="256032"/>
          </a:xfrm>
          <a:prstGeom prst="rightArrow">
            <a:avLst/>
          </a:prstGeom>
          <a:solidFill>
            <a:srgbClr val="4F81BD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>
              <a:lnSpc>
                <a:spcPct val="100000"/>
              </a:lnSpc>
            </a:pPr>
          </a:p>
        </p:txBody>
      </p:sp>
      <p:sp>
        <p:nvSpPr>
          <p:cNvPr id="17416" name="pipe"/>
          <p:cNvSpPr>
            <a:spLocks noChangeAspect="0"/>
          </p:cNvSpPr>
          <p:nvPr/>
        </p:nvSpPr>
        <p:spPr>
          <a:xfrm>
            <a:off x="1618488" y="1389888"/>
            <a:ext cx="1069848" cy="1280160"/>
          </a:xfrm>
          <a:prstGeom prst="roundRect">
            <a:avLst/>
          </a:prstGeom>
          <a:solidFill>
            <a:srgbClr val="4F81BD"/>
          </a:solidFill>
          <a:ln w="28575">
            <a:solidFill>
              <a:srgbClr val="F79646"/>
            </a:solidFill>
          </a:ln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0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★ GATEWAY</a:t>
            </a:r>
          </a:p>
          <a:p>
            <a:pPr algn="ctr">
              <a:lnSpc>
                <a:spcPct val="100000"/>
              </a:lnSpc>
            </a:pPr>
            <a:r>
              <a:rPr lang="en-US" sz="85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Static-IP host
key + hourly JWT</a:t>
            </a:r>
          </a:p>
        </p:txBody>
      </p:sp>
      <p:sp>
        <p:nvSpPr>
          <p:cNvPr id="17417" name="arr"/>
          <p:cNvSpPr>
            <a:spLocks noChangeAspect="0"/>
          </p:cNvSpPr>
          <p:nvPr/>
        </p:nvSpPr>
        <p:spPr>
          <a:xfrm>
            <a:off x="2706624" y="1901952"/>
            <a:ext cx="128016" cy="256032"/>
          </a:xfrm>
          <a:prstGeom prst="rightArrow">
            <a:avLst/>
          </a:prstGeom>
          <a:solidFill>
            <a:srgbClr val="4F81BD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>
              <a:lnSpc>
                <a:spcPct val="100000"/>
              </a:lnSpc>
            </a:pPr>
          </a:p>
        </p:txBody>
      </p:sp>
      <p:sp>
        <p:nvSpPr>
          <p:cNvPr id="17418" name="pipe"/>
          <p:cNvSpPr>
            <a:spLocks noChangeAspect="0"/>
          </p:cNvSpPr>
          <p:nvPr/>
        </p:nvSpPr>
        <p:spPr>
          <a:xfrm>
            <a:off x="2852928" y="1389888"/>
            <a:ext cx="1069848" cy="1280160"/>
          </a:xfrm>
          <a:prstGeom prst="roundRect">
            <a:avLst/>
          </a:prstGeom>
          <a:solidFill>
            <a:srgbClr val="4F81BD"/>
          </a:solidFill>
          <a:ln w="12700">
            <a:solidFill>
              <a:srgbClr val="000000"/>
            </a:solidFill>
          </a:ln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0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FUSION</a:t>
            </a:r>
          </a:p>
          <a:p>
            <a:pPr algn="ctr">
              <a:lnSpc>
                <a:spcPct val="100000"/>
              </a:lnSpc>
            </a:pPr>
            <a:r>
              <a:rPr lang="en-US" sz="85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Normalize
CPCB AQI · CAMS UV</a:t>
            </a:r>
          </a:p>
        </p:txBody>
      </p:sp>
      <p:sp>
        <p:nvSpPr>
          <p:cNvPr id="17419" name="arr"/>
          <p:cNvSpPr>
            <a:spLocks noChangeAspect="0"/>
          </p:cNvSpPr>
          <p:nvPr/>
        </p:nvSpPr>
        <p:spPr>
          <a:xfrm>
            <a:off x="3941064" y="1901952"/>
            <a:ext cx="128016" cy="256032"/>
          </a:xfrm>
          <a:prstGeom prst="rightArrow">
            <a:avLst/>
          </a:prstGeom>
          <a:solidFill>
            <a:srgbClr val="4F81BD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>
              <a:lnSpc>
                <a:spcPct val="100000"/>
              </a:lnSpc>
            </a:pPr>
          </a:p>
        </p:txBody>
      </p:sp>
      <p:sp>
        <p:nvSpPr>
          <p:cNvPr id="17420" name="pipe"/>
          <p:cNvSpPr>
            <a:spLocks noChangeAspect="0"/>
          </p:cNvSpPr>
          <p:nvPr/>
        </p:nvSpPr>
        <p:spPr>
          <a:xfrm>
            <a:off x="4087368" y="1389888"/>
            <a:ext cx="1069848" cy="1280160"/>
          </a:xfrm>
          <a:prstGeom prst="roundRect">
            <a:avLst/>
          </a:prstGeom>
          <a:solidFill>
            <a:srgbClr val="4F81BD"/>
          </a:solidFill>
          <a:ln w="12700">
            <a:solidFill>
              <a:srgbClr val="000000"/>
            </a:solidFill>
          </a:ln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8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INTELLIGENCE</a:t>
            </a:r>
          </a:p>
          <a:p>
            <a:pPr algn="ctr">
              <a:lnSpc>
                <a:spcPct val="100000"/>
              </a:lnSpc>
            </a:pPr>
            <a:r>
              <a:rPr lang="en-US" sz="85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Advisory + window
engines · replay</a:t>
            </a:r>
          </a:p>
        </p:txBody>
      </p:sp>
      <p:sp>
        <p:nvSpPr>
          <p:cNvPr id="17421" name="arr"/>
          <p:cNvSpPr>
            <a:spLocks noChangeAspect="0"/>
          </p:cNvSpPr>
          <p:nvPr/>
        </p:nvSpPr>
        <p:spPr>
          <a:xfrm>
            <a:off x="5175504" y="1901952"/>
            <a:ext cx="128016" cy="256032"/>
          </a:xfrm>
          <a:prstGeom prst="rightArrow">
            <a:avLst/>
          </a:prstGeom>
          <a:solidFill>
            <a:srgbClr val="4F81BD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>
              <a:lnSpc>
                <a:spcPct val="100000"/>
              </a:lnSpc>
            </a:pPr>
          </a:p>
        </p:txBody>
      </p:sp>
      <p:sp>
        <p:nvSpPr>
          <p:cNvPr id="17422" name="pipe"/>
          <p:cNvSpPr>
            <a:spLocks noChangeAspect="0"/>
          </p:cNvSpPr>
          <p:nvPr/>
        </p:nvSpPr>
        <p:spPr>
          <a:xfrm>
            <a:off x="5321808" y="1389888"/>
            <a:ext cx="1069848" cy="1280160"/>
          </a:xfrm>
          <a:prstGeom prst="roundRect">
            <a:avLst/>
          </a:prstGeom>
          <a:solidFill>
            <a:srgbClr val="4F81BD"/>
          </a:solidFill>
          <a:ln w="12700">
            <a:solidFill>
              <a:srgbClr val="000000"/>
            </a:solidFill>
          </a:ln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0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BACKEND</a:t>
            </a:r>
          </a:p>
          <a:p>
            <a:pPr algn="ctr">
              <a:lnSpc>
                <a:spcPct val="100000"/>
              </a:lnSpc>
            </a:pPr>
            <a:r>
              <a:rPr lang="en-US" sz="85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Bundle API
push · ledger</a:t>
            </a:r>
          </a:p>
        </p:txBody>
      </p:sp>
      <p:sp>
        <p:nvSpPr>
          <p:cNvPr id="17423" name="arr"/>
          <p:cNvSpPr>
            <a:spLocks noChangeAspect="0"/>
          </p:cNvSpPr>
          <p:nvPr/>
        </p:nvSpPr>
        <p:spPr>
          <a:xfrm>
            <a:off x="6409944" y="1901952"/>
            <a:ext cx="128016" cy="256032"/>
          </a:xfrm>
          <a:prstGeom prst="rightArrow">
            <a:avLst/>
          </a:prstGeom>
          <a:solidFill>
            <a:srgbClr val="4F81BD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>
              <a:lnSpc>
                <a:spcPct val="100000"/>
              </a:lnSpc>
            </a:pPr>
          </a:p>
        </p:txBody>
      </p:sp>
      <p:sp>
        <p:nvSpPr>
          <p:cNvPr id="17424" name="pipe"/>
          <p:cNvSpPr>
            <a:spLocks noChangeAspect="0"/>
          </p:cNvSpPr>
          <p:nvPr/>
        </p:nvSpPr>
        <p:spPr>
          <a:xfrm>
            <a:off x="6556248" y="1389888"/>
            <a:ext cx="1069848" cy="1280160"/>
          </a:xfrm>
          <a:prstGeom prst="roundRect">
            <a:avLst/>
          </a:prstGeom>
          <a:solidFill>
            <a:srgbClr val="003366"/>
          </a:solidFill>
          <a:ln w="12700">
            <a:solidFill>
              <a:srgbClr val="000000"/>
            </a:solidFill>
          </a:ln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0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HOMEPAGE</a:t>
            </a:r>
          </a:p>
          <a:p>
            <a:pPr algn="ctr">
              <a:lnSpc>
                <a:spcPct val="100000"/>
              </a:lnSpc>
            </a:pPr>
            <a:r>
              <a:rPr lang="en-US" sz="85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Offline PWA
EN/HI · WCAG AA</a:t>
            </a:r>
          </a:p>
        </p:txBody>
      </p:sp>
      <p:sp>
        <p:nvSpPr>
          <p:cNvPr id="17425" name="chip"/>
          <p:cNvSpPr>
            <a:spLocks noChangeAspect="0"/>
          </p:cNvSpPr>
          <p:nvPr/>
        </p:nvSpPr>
        <p:spPr>
          <a:xfrm>
            <a:off x="384048" y="2743200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D9EAFB"/>
          </a:solidFill>
          <a:ln w="19050">
            <a:solidFill>
              <a:srgbClr val="000000"/>
            </a:solidFill>
          </a:ln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750" b="1" dirty="0">
                <a:solidFill>
                  <a:srgbClr val="1A1A1A"/>
                </a:solidFill>
                <a:latin typeface="Arial"/>
                <a:ea typeface="Arial"/>
                <a:cs typeface="Arial"/>
              </a:rPr>
              <a:t>Vanilla JS PWA</a:t>
            </a:r>
          </a:p>
        </p:txBody>
      </p:sp>
      <p:sp>
        <p:nvSpPr>
          <p:cNvPr id="17426" name="chip"/>
          <p:cNvSpPr>
            <a:spLocks noChangeAspect="0"/>
          </p:cNvSpPr>
          <p:nvPr/>
        </p:nvSpPr>
        <p:spPr>
          <a:xfrm>
            <a:off x="1851660" y="2743200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D9EAFB"/>
          </a:solidFill>
          <a:ln w="19050">
            <a:solidFill>
              <a:srgbClr val="000000"/>
            </a:solidFill>
          </a:ln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750" b="1" dirty="0">
                <a:solidFill>
                  <a:srgbClr val="1A1A1A"/>
                </a:solidFill>
                <a:latin typeface="Arial"/>
                <a:ea typeface="Arial"/>
                <a:cs typeface="Arial"/>
              </a:rPr>
              <a:t>Leaflet maps</a:t>
            </a:r>
          </a:p>
        </p:txBody>
      </p:sp>
      <p:sp>
        <p:nvSpPr>
          <p:cNvPr id="17427" name="chip"/>
          <p:cNvSpPr>
            <a:spLocks noChangeAspect="0"/>
          </p:cNvSpPr>
          <p:nvPr/>
        </p:nvSpPr>
        <p:spPr>
          <a:xfrm>
            <a:off x="3319272" y="2743200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D9EAFB"/>
          </a:solidFill>
          <a:ln w="19050">
            <a:solidFill>
              <a:srgbClr val="000000"/>
            </a:solidFill>
          </a:ln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750" b="1" dirty="0">
                <a:solidFill>
                  <a:srgbClr val="1A1A1A"/>
                </a:solidFill>
                <a:latin typeface="Arial"/>
                <a:ea typeface="Arial"/>
                <a:cs typeface="Arial"/>
              </a:rPr>
              <a:t>FastAPI</a:t>
            </a:r>
          </a:p>
        </p:txBody>
      </p:sp>
      <p:sp>
        <p:nvSpPr>
          <p:cNvPr id="17428" name="chip"/>
          <p:cNvSpPr>
            <a:spLocks noChangeAspect="0"/>
          </p:cNvSpPr>
          <p:nvPr/>
        </p:nvSpPr>
        <p:spPr>
          <a:xfrm>
            <a:off x="4786884" y="2743200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D9EAFB"/>
          </a:solidFill>
          <a:ln w="19050">
            <a:solidFill>
              <a:srgbClr val="000000"/>
            </a:solidFill>
          </a:ln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750" b="1" dirty="0">
                <a:solidFill>
                  <a:srgbClr val="1A1A1A"/>
                </a:solidFill>
                <a:latin typeface="Arial"/>
                <a:ea typeface="Arial"/>
                <a:cs typeface="Arial"/>
              </a:rPr>
              <a:t>Firebase auth + Web Push</a:t>
            </a:r>
          </a:p>
        </p:txBody>
      </p:sp>
      <p:sp>
        <p:nvSpPr>
          <p:cNvPr id="17429" name="chip"/>
          <p:cNvSpPr>
            <a:spLocks noChangeAspect="0"/>
          </p:cNvSpPr>
          <p:nvPr/>
        </p:nvSpPr>
        <p:spPr>
          <a:xfrm>
            <a:off x="6254496" y="2743200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D9EAFB"/>
          </a:solidFill>
          <a:ln w="19050">
            <a:solidFill>
              <a:srgbClr val="000000"/>
            </a:solidFill>
          </a:ln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750" b="1" dirty="0">
                <a:solidFill>
                  <a:srgbClr val="1A1A1A"/>
                </a:solidFill>
                <a:latin typeface="Arial"/>
                <a:ea typeface="Arial"/>
                <a:cs typeface="Arial"/>
              </a:rPr>
              <a:t>Grounded bot + templates</a:t>
            </a:r>
          </a:p>
        </p:txBody>
      </p:sp>
      <p:sp>
        <p:nvSpPr>
          <p:cNvPr id="17430" name="chip"/>
          <p:cNvSpPr>
            <a:spLocks noChangeAspect="0"/>
          </p:cNvSpPr>
          <p:nvPr/>
        </p:nvSpPr>
        <p:spPr>
          <a:xfrm>
            <a:off x="612648" y="3182112"/>
            <a:ext cx="6949440" cy="310896"/>
          </a:xfrm>
          <a:prstGeom prst="roundRect">
            <a:avLst>
              <a:gd name="adj" fmla="val 50000"/>
            </a:avLst>
          </a:prstGeom>
          <a:solidFill>
            <a:srgbClr val="003366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8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Methodology and process for implementation (Flow Charts/Images/ working prototype)</a:t>
            </a:r>
          </a:p>
        </p:txBody>
      </p:sp>
      <p:sp>
        <p:nvSpPr>
          <p:cNvPr id="17431" name="stage"/>
          <p:cNvSpPr>
            <a:spLocks noChangeAspect="0"/>
          </p:cNvSpPr>
          <p:nvPr/>
        </p:nvSpPr>
        <p:spPr>
          <a:xfrm>
            <a:off x="612648" y="3566160"/>
            <a:ext cx="2103120" cy="868680"/>
          </a:xfrm>
          <a:prstGeom prst="roundRect">
            <a:avLst/>
          </a:prstGeom>
          <a:solidFill>
            <a:srgbClr val="003366"/>
          </a:solidFill>
          <a:ln w="12700">
            <a:solidFill>
              <a:srgbClr val="000000"/>
            </a:solidFill>
          </a:ln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1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Mock today</a:t>
            </a:r>
          </a:p>
          <a:p>
            <a:pPr algn="ctr">
              <a:lnSpc>
                <a:spcPct val="100000"/>
              </a:lnSpc>
            </a:pPr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real captures
32 tests green</a:t>
            </a:r>
          </a:p>
        </p:txBody>
      </p:sp>
      <p:sp>
        <p:nvSpPr>
          <p:cNvPr id="17432" name="arr"/>
          <p:cNvSpPr>
            <a:spLocks noChangeAspect="0"/>
          </p:cNvSpPr>
          <p:nvPr/>
        </p:nvSpPr>
        <p:spPr>
          <a:xfrm>
            <a:off x="2734056" y="3877056"/>
            <a:ext cx="310896" cy="256032"/>
          </a:xfrm>
          <a:prstGeom prst="rightArrow">
            <a:avLst/>
          </a:prstGeom>
          <a:solidFill>
            <a:srgbClr val="5AAA46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>
              <a:lnSpc>
                <a:spcPct val="100000"/>
              </a:lnSpc>
            </a:pPr>
          </a:p>
        </p:txBody>
      </p:sp>
      <p:sp>
        <p:nvSpPr>
          <p:cNvPr id="17433" name="stage"/>
          <p:cNvSpPr>
            <a:spLocks noChangeAspect="0"/>
          </p:cNvSpPr>
          <p:nvPr/>
        </p:nvSpPr>
        <p:spPr>
          <a:xfrm>
            <a:off x="3063240" y="3566160"/>
            <a:ext cx="2103120" cy="868680"/>
          </a:xfrm>
          <a:prstGeom prst="roundRect">
            <a:avLst/>
          </a:prstGeom>
          <a:solidFill>
            <a:srgbClr val="4F81BD"/>
          </a:solidFill>
          <a:ln w="12700">
            <a:solidFill>
              <a:srgbClr val="000000"/>
            </a:solidFill>
          </a:ln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1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Live pipeline</a:t>
            </a:r>
          </a:p>
          <a:p>
            <a:pPr algn="ctr">
              <a:lnSpc>
                <a:spcPct val="100000"/>
              </a:lnSpc>
            </a:pPr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keyed APIs
static IP + JWT</a:t>
            </a:r>
          </a:p>
        </p:txBody>
      </p:sp>
      <p:sp>
        <p:nvSpPr>
          <p:cNvPr id="17434" name="arr"/>
          <p:cNvSpPr>
            <a:spLocks noChangeAspect="0"/>
          </p:cNvSpPr>
          <p:nvPr/>
        </p:nvSpPr>
        <p:spPr>
          <a:xfrm>
            <a:off x="5184648" y="3877056"/>
            <a:ext cx="310896" cy="256032"/>
          </a:xfrm>
          <a:prstGeom prst="rightArrow">
            <a:avLst/>
          </a:prstGeom>
          <a:solidFill>
            <a:srgbClr val="5AAA46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>
              <a:lnSpc>
                <a:spcPct val="100000"/>
              </a:lnSpc>
            </a:pPr>
          </a:p>
        </p:txBody>
      </p:sp>
      <p:sp>
        <p:nvSpPr>
          <p:cNvPr id="17435" name="stage"/>
          <p:cNvSpPr>
            <a:spLocks noChangeAspect="0"/>
          </p:cNvSpPr>
          <p:nvPr/>
        </p:nvSpPr>
        <p:spPr>
          <a:xfrm>
            <a:off x="5513832" y="3566160"/>
            <a:ext cx="2103120" cy="868680"/>
          </a:xfrm>
          <a:prstGeom prst="roundRect">
            <a:avLst/>
          </a:prstGeom>
          <a:solidFill>
            <a:srgbClr val="4F81BD"/>
          </a:solidFill>
          <a:ln w="12700">
            <a:solidFill>
              <a:srgbClr val="000000"/>
            </a:solidFill>
          </a:ln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1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Finale</a:t>
            </a:r>
          </a:p>
          <a:p>
            <a:pPr algn="ctr">
              <a:lnSpc>
                <a:spcPct val="100000"/>
              </a:lnSpc>
            </a:pPr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 personas · push
labelled adapters</a:t>
            </a:r>
          </a:p>
        </p:txBody>
      </p:sp>
      <p:sp>
        <p:nvSpPr>
          <p:cNvPr id="17436" name="panel"/>
          <p:cNvSpPr>
            <a:spLocks noChangeAspect="0"/>
          </p:cNvSpPr>
          <p:nvPr/>
        </p:nvSpPr>
        <p:spPr>
          <a:xfrm>
            <a:off x="612648" y="4617720"/>
            <a:ext cx="3566160" cy="1417320"/>
          </a:xfrm>
          <a:prstGeom prst="roundRect">
            <a:avLst/>
          </a:prstGeom>
          <a:solidFill>
            <a:srgbClr val="F6E43B"/>
          </a:solidFill>
          <a:ln w="19050">
            <a:solidFill>
              <a:srgbClr val="000000"/>
            </a:solidFill>
          </a:ln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100" b="1" dirty="0">
                <a:solidFill>
                  <a:srgbClr val="003366"/>
                </a:solidFill>
                <a:latin typeface="Arial"/>
                <a:ea typeface="Arial"/>
                <a:cs typeface="Arial"/>
              </a:rPr>
              <a:t>REPLAY</a:t>
            </a:r>
          </a:p>
          <a:p>
            <a:pPr algn="ctr">
              <a:lnSpc>
                <a:spcPct val="100000"/>
              </a:lnSpc>
            </a:pPr>
            <a:r>
              <a:rPr lang="en-US" sz="1000" dirty="0">
                <a:solidFill>
                  <a:srgbClr val="1A1A1A"/>
                </a:solidFill>
                <a:latin typeface="Arial"/>
                <a:ea typeface="Arial"/>
                <a:cs typeface="Arial"/>
              </a:rPr>
              <a:t>logged inputs → rule chain → byte-identical card ↺</a:t>
            </a:r>
          </a:p>
        </p:txBody>
      </p:sp>
      <p:sp>
        <p:nvSpPr>
          <p:cNvPr id="17437" name="panel"/>
          <p:cNvSpPr>
            <a:spLocks noChangeAspect="0"/>
          </p:cNvSpPr>
          <p:nvPr/>
        </p:nvSpPr>
        <p:spPr>
          <a:xfrm>
            <a:off x="4361688" y="4617720"/>
            <a:ext cx="3246120" cy="1417320"/>
          </a:xfrm>
          <a:prstGeom prst="roundRect">
            <a:avLst/>
          </a:prstGeom>
          <a:solidFill>
            <a:srgbClr val="D9EAFB"/>
          </a:solidFill>
          <a:ln w="19050">
            <a:solidFill>
              <a:srgbClr val="000000"/>
            </a:solidFill>
          </a:ln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100" b="1" dirty="0">
                <a:solidFill>
                  <a:srgbClr val="003366"/>
                </a:solidFill>
                <a:latin typeface="Arial"/>
                <a:ea typeface="Arial"/>
                <a:cs typeface="Arial"/>
              </a:rPr>
              <a:t>AI only where justified</a:t>
            </a:r>
          </a:p>
          <a:p>
            <a:pPr algn="ctr">
              <a:lnSpc>
                <a:spcPct val="100000"/>
              </a:lnSpc>
            </a:pPr>
            <a:r>
              <a:rPr lang="en-US" sz="1000" dirty="0">
                <a:solidFill>
                  <a:srgbClr val="1A1A1A"/>
                </a:solidFill>
                <a:latin typeface="Arial"/>
                <a:ea typeface="Arial"/>
                <a:cs typeface="Arial"/>
              </a:rPr>
              <a:t>grounded bot + template fallback. No model invents weather.</a:t>
            </a:r>
          </a:p>
        </p:txBody>
      </p:sp>
      <p:sp>
        <p:nvSpPr>
          <p:cNvPr id="17438" name="chip"/>
          <p:cNvSpPr>
            <a:spLocks noChangeAspect="0"/>
          </p:cNvSpPr>
          <p:nvPr/>
        </p:nvSpPr>
        <p:spPr>
          <a:xfrm>
            <a:off x="7863840" y="932688"/>
            <a:ext cx="3703320" cy="310896"/>
          </a:xfrm>
          <a:prstGeom prst="roundRect">
            <a:avLst>
              <a:gd name="adj" fmla="val 50000"/>
            </a:avLst>
          </a:prstGeom>
          <a:solidFill>
            <a:srgbClr val="2E9E4F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8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WORKING PROTOTYPE · ASSISTANT DESIGN PREVIEW</a:t>
            </a:r>
          </a:p>
        </p:txBody>
      </p:sp>
      <p:pic>
        <p:nvPicPr>
          <p:cNvPr id="17439" name="shot-proto"/>
          <p:cNvPicPr/>
        </p:nvPicPr>
        <p:blipFill>
          <a:blip r:embed="rId4"/>
          <a:stretch>
            <a:fillRect/>
          </a:stretch>
        </p:blipFill>
        <p:spPr>
          <a:xfrm>
            <a:off x="8229600" y="1389888"/>
            <a:ext cx="1463040" cy="3163824"/>
          </a:xfrm>
          <a:prstGeom prst="roundRect">
            <a:avLst/>
          </a:prstGeom>
          <a:noFill/>
          <a:ln w="19050">
            <a:solidFill>
              <a:srgbClr val="000000"/>
            </a:solidFill>
          </a:ln>
        </p:spPr>
      </p:pic>
      <p:pic>
        <p:nvPicPr>
          <p:cNvPr id="17440" name="shot-ai"/>
          <p:cNvPicPr/>
        </p:nvPicPr>
        <p:blipFill>
          <a:blip r:embed="rId5"/>
          <a:stretch>
            <a:fillRect/>
          </a:stretch>
        </p:blipFill>
        <p:spPr>
          <a:xfrm>
            <a:off x="9829800" y="1389888"/>
            <a:ext cx="1344168" cy="3154680"/>
          </a:xfrm>
          <a:prstGeom prst="roundRect">
            <a:avLst/>
          </a:prstGeom>
          <a:noFill/>
          <a:ln w="19050">
            <a:solidFill>
              <a:srgbClr val="000000"/>
            </a:solidFill>
          </a:ln>
        </p:spPr>
      </p:pic>
      <p:sp>
        <p:nvSpPr>
          <p:cNvPr id="17441" name="chip"/>
          <p:cNvSpPr>
            <a:spLocks noChangeAspect="0"/>
          </p:cNvSpPr>
          <p:nvPr/>
        </p:nvSpPr>
        <p:spPr>
          <a:xfrm>
            <a:off x="8229600" y="4626864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F6E43B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6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BYTE-IDENTICAL REPLAY</a:t>
            </a:r>
          </a:p>
        </p:txBody>
      </p:sp>
      <p:sp>
        <p:nvSpPr>
          <p:cNvPr id="17442" name="chip"/>
          <p:cNvSpPr>
            <a:spLocks noChangeAspect="0"/>
          </p:cNvSpPr>
          <p:nvPr/>
        </p:nvSpPr>
        <p:spPr>
          <a:xfrm>
            <a:off x="9829800" y="4626864"/>
            <a:ext cx="1344168" cy="292608"/>
          </a:xfrm>
          <a:prstGeom prst="roundRect">
            <a:avLst>
              <a:gd name="adj" fmla="val 50000"/>
            </a:avLst>
          </a:prstGeom>
          <a:solidFill>
            <a:srgbClr val="F6E43B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6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MAUSAM[AI] · DESIGN</a:t>
            </a:r>
          </a:p>
        </p:txBody>
      </p:sp>
      <p:sp>
        <p:nvSpPr>
          <p:cNvPr id="17443" name="panel"/>
          <p:cNvSpPr>
            <a:spLocks noChangeAspect="0"/>
          </p:cNvSpPr>
          <p:nvPr/>
        </p:nvSpPr>
        <p:spPr>
          <a:xfrm>
            <a:off x="7863840" y="5047488"/>
            <a:ext cx="3703320" cy="987552"/>
          </a:xfrm>
          <a:prstGeom prst="roundRect">
            <a:avLst/>
          </a:prstGeom>
          <a:solidFill>
            <a:srgbClr val="D9EAFB"/>
          </a:solidFill>
          <a:ln w="19050">
            <a:solidFill>
              <a:srgbClr val="000000"/>
            </a:solidFill>
          </a:ln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950" dirty="0">
                <a:solidFill>
                  <a:srgbClr val="1A1A1A"/>
                </a:solidFill>
                <a:latin typeface="Arial"/>
                <a:ea typeface="Arial"/>
                <a:cs typeface="Arial"/>
              </a:rPr>
              <a:t>Mock runs offline on captured IMD payloads; the keyed gateway is the Day-1 critical path.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11841480" y="6035040"/>
            <a:ext cx="100" cy="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783080" cy="804672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rgbClr val="003366"/>
                </a:solidFill>
              </a:rPr>
              <a:t>Zencoderss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2" name="heading_pill"/>
          <p:cNvSpPr>
            <a:spLocks noChangeAspect="0"/>
          </p:cNvSpPr>
          <p:nvPr/>
        </p:nvSpPr>
        <p:spPr>
          <a:xfrm>
            <a:off x="2781148" y="164592"/>
            <a:ext cx="6629400" cy="676656"/>
          </a:xfrm>
          <a:prstGeom prst="roundRect">
            <a:avLst>
              <a:gd name="adj" fmla="val 50000"/>
            </a:avLst>
          </a:prstGeom>
          <a:solidFill>
            <a:srgbClr val="2E9E4F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2400" b="1" dirty="0">
                <a:solidFill>
                  <a:srgbClr val="FFFFFF"/>
                </a:solidFill>
                <a:latin typeface="Arial Black"/>
                <a:ea typeface="Arial Black"/>
                <a:cs typeface="Arial Black"/>
              </a:rPr>
              <a:t>FEASIBILITY AND VIABILITY</a:t>
            </a:r>
          </a:p>
        </p:txBody>
      </p:sp>
      <p:sp>
        <p:nvSpPr>
          <p:cNvPr id="17413" name="chip"/>
          <p:cNvSpPr>
            <a:spLocks noChangeAspect="0"/>
          </p:cNvSpPr>
          <p:nvPr/>
        </p:nvSpPr>
        <p:spPr>
          <a:xfrm>
            <a:off x="612648" y="932688"/>
            <a:ext cx="4297680" cy="310896"/>
          </a:xfrm>
          <a:prstGeom prst="roundRect">
            <a:avLst>
              <a:gd name="adj" fmla="val 50000"/>
            </a:avLst>
          </a:prstGeom>
          <a:solidFill>
            <a:srgbClr val="003366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8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Analysis of the feasibility of the idea</a:t>
            </a:r>
          </a:p>
        </p:txBody>
      </p:sp>
      <p:sp>
        <p:nvSpPr>
          <p:cNvPr id="17414" name="feas"/>
          <p:cNvSpPr>
            <a:spLocks noChangeAspect="0"/>
          </p:cNvSpPr>
          <p:nvPr/>
        </p:nvSpPr>
        <p:spPr>
          <a:xfrm>
            <a:off x="612648" y="1316736"/>
            <a:ext cx="10954512" cy="292608"/>
          </a:xfrm>
          <a:prstGeom prst="rect">
            <a:avLst/>
          </a:prstGeom>
          <a:noFill/>
          <a:ln>
            <a:noFill/>
          </a:ln>
        </p:spPr>
        <p:txBody>
          <a:bodyPr anchor="t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100" dirty="0">
                <a:solidFill>
                  <a:srgbClr val="1A1A1A"/>
                </a:solidFill>
                <a:latin typeface="Arial"/>
                <a:ea typeface="Arial"/>
                <a:cs typeface="Arial"/>
              </a:rPr>
              <a:t>The mock runs offline on real captured IMD payloads. </a:t>
            </a:r>
            <a:r>
              <a:rPr lang="en-US" sz="1100" b="1" dirty="0">
                <a:solidFill>
                  <a:srgbClr val="2E9E4F"/>
                </a:solidFill>
                <a:latin typeface="Arial"/>
                <a:ea typeface="Arial"/>
                <a:cs typeface="Arial"/>
              </a:rPr>
              <a:t>32 tests green.</a:t>
            </a:r>
            <a:r>
              <a:rPr lang="en-US" sz="1100" dirty="0">
                <a:solidFill>
                  <a:srgbClr val="1A1A1A"/>
                </a:solidFill>
                <a:latin typeface="Arial"/>
                <a:ea typeface="Arial"/>
                <a:cs typeface="Arial"/>
              </a:rPr>
              <a:t> Each risk below has a working fallback.</a:t>
            </a:r>
          </a:p>
        </p:txBody>
      </p:sp>
      <p:sp>
        <p:nvSpPr>
          <p:cNvPr id="17415" name="chip"/>
          <p:cNvSpPr>
            <a:spLocks noChangeAspect="0"/>
          </p:cNvSpPr>
          <p:nvPr/>
        </p:nvSpPr>
        <p:spPr>
          <a:xfrm>
            <a:off x="612648" y="1700784"/>
            <a:ext cx="4480560" cy="310896"/>
          </a:xfrm>
          <a:prstGeom prst="roundRect">
            <a:avLst>
              <a:gd name="adj" fmla="val 50000"/>
            </a:avLst>
          </a:prstGeom>
          <a:solidFill>
            <a:srgbClr val="003366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8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Potential challenges and risks</a:t>
            </a:r>
          </a:p>
        </p:txBody>
      </p:sp>
      <p:sp>
        <p:nvSpPr>
          <p:cNvPr id="17416" name="chip"/>
          <p:cNvSpPr>
            <a:spLocks noChangeAspect="0"/>
          </p:cNvSpPr>
          <p:nvPr/>
        </p:nvSpPr>
        <p:spPr>
          <a:xfrm>
            <a:off x="6263640" y="1700784"/>
            <a:ext cx="4846320" cy="310896"/>
          </a:xfrm>
          <a:prstGeom prst="roundRect">
            <a:avLst>
              <a:gd name="adj" fmla="val 50000"/>
            </a:avLst>
          </a:prstGeom>
          <a:solidFill>
            <a:srgbClr val="003366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8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Strategies for overcoming these challenges</a:t>
            </a:r>
          </a:p>
        </p:txBody>
      </p:sp>
      <p:sp>
        <p:nvSpPr>
          <p:cNvPr id="17417" name="panel"/>
          <p:cNvSpPr>
            <a:spLocks noChangeAspect="0"/>
          </p:cNvSpPr>
          <p:nvPr/>
        </p:nvSpPr>
        <p:spPr>
          <a:xfrm>
            <a:off x="868680" y="2121408"/>
            <a:ext cx="4892040" cy="603504"/>
          </a:xfrm>
          <a:prstGeom prst="roundRect">
            <a:avLst/>
          </a:prstGeom>
          <a:solidFill>
            <a:srgbClr val="FBE1EE"/>
          </a:solidFill>
          <a:ln w="19050">
            <a:solidFill>
              <a:srgbClr val="D92B2B"/>
            </a:solidFill>
          </a:ln>
        </p:spPr>
        <p:txBody>
          <a:bodyPr anchor="ctr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050" dirty="0">
                <a:solidFill>
                  <a:srgbClr val="1A1A1A"/>
                </a:solidFill>
                <a:latin typeface="Arial"/>
                <a:ea typeface="Arial"/>
                <a:cs typeface="Arial"/>
              </a:rPr>
              <a:t>Keyed API needs a static-IP host</a:t>
            </a:r>
          </a:p>
        </p:txBody>
      </p:sp>
      <p:sp>
        <p:nvSpPr>
          <p:cNvPr id="17418" name="badge"/>
          <p:cNvSpPr>
            <a:spLocks noChangeAspect="0"/>
          </p:cNvSpPr>
          <p:nvPr/>
        </p:nvSpPr>
        <p:spPr>
          <a:xfrm>
            <a:off x="521208" y="2249424"/>
            <a:ext cx="347472" cy="347472"/>
          </a:xfrm>
          <a:prstGeom prst="ellipse">
            <a:avLst/>
          </a:prstGeom>
          <a:solidFill>
            <a:srgbClr val="D92B2B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3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!</a:t>
            </a:r>
          </a:p>
        </p:txBody>
      </p:sp>
      <p:sp>
        <p:nvSpPr>
          <p:cNvPr id="17419" name="arr"/>
          <p:cNvSpPr>
            <a:spLocks noChangeAspect="0"/>
          </p:cNvSpPr>
          <p:nvPr/>
        </p:nvSpPr>
        <p:spPr>
          <a:xfrm>
            <a:off x="5815584" y="2295144"/>
            <a:ext cx="402336" cy="256032"/>
          </a:xfrm>
          <a:prstGeom prst="rightArrow">
            <a:avLst/>
          </a:prstGeom>
          <a:solidFill>
            <a:srgbClr val="5AAA46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>
              <a:lnSpc>
                <a:spcPct val="100000"/>
              </a:lnSpc>
            </a:pPr>
          </a:p>
        </p:txBody>
      </p:sp>
      <p:sp>
        <p:nvSpPr>
          <p:cNvPr id="17420" name="panel"/>
          <p:cNvSpPr>
            <a:spLocks noChangeAspect="0"/>
          </p:cNvSpPr>
          <p:nvPr/>
        </p:nvSpPr>
        <p:spPr>
          <a:xfrm>
            <a:off x="6263640" y="2121408"/>
            <a:ext cx="5257800" cy="603504"/>
          </a:xfrm>
          <a:prstGeom prst="roundRect">
            <a:avLst/>
          </a:prstGeom>
          <a:solidFill>
            <a:srgbClr val="D9EAFB"/>
          </a:solidFill>
          <a:ln w="19050">
            <a:solidFill>
              <a:srgbClr val="5AAA46"/>
            </a:solidFill>
          </a:ln>
        </p:spPr>
        <p:txBody>
          <a:bodyPr anchor="ctr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050" dirty="0">
                <a:solidFill>
                  <a:srgbClr val="1A1A1A"/>
                </a:solidFill>
                <a:latin typeface="Arial"/>
                <a:ea typeface="Arial"/>
                <a:cs typeface="Arial"/>
              </a:rPr>
              <a:t>Run on saved captures + public WFS meanwhile</a:t>
            </a:r>
          </a:p>
        </p:txBody>
      </p:sp>
      <p:sp>
        <p:nvSpPr>
          <p:cNvPr id="17421" name="badge"/>
          <p:cNvSpPr>
            <a:spLocks noChangeAspect="0"/>
          </p:cNvSpPr>
          <p:nvPr/>
        </p:nvSpPr>
        <p:spPr>
          <a:xfrm>
            <a:off x="5916168" y="2249424"/>
            <a:ext cx="347472" cy="347472"/>
          </a:xfrm>
          <a:prstGeom prst="ellipse">
            <a:avLst/>
          </a:prstGeom>
          <a:solidFill>
            <a:srgbClr val="5AAA46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3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7422" name="panel"/>
          <p:cNvSpPr>
            <a:spLocks noChangeAspect="0"/>
          </p:cNvSpPr>
          <p:nvPr/>
        </p:nvSpPr>
        <p:spPr>
          <a:xfrm>
            <a:off x="868680" y="2834640"/>
            <a:ext cx="4892040" cy="603504"/>
          </a:xfrm>
          <a:prstGeom prst="roundRect">
            <a:avLst/>
          </a:prstGeom>
          <a:solidFill>
            <a:srgbClr val="FBE1EE"/>
          </a:solidFill>
          <a:ln w="19050">
            <a:solidFill>
              <a:srgbClr val="D92B2B"/>
            </a:solidFill>
          </a:ln>
        </p:spPr>
        <p:txBody>
          <a:bodyPr anchor="ctr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050" dirty="0">
                <a:solidFill>
                  <a:srgbClr val="1A1A1A"/>
                </a:solidFill>
                <a:latin typeface="Arial"/>
                <a:ea typeface="Arial"/>
                <a:cs typeface="Arial"/>
              </a:rPr>
              <a:t>CPCB feed may be unreachable</a:t>
            </a:r>
          </a:p>
        </p:txBody>
      </p:sp>
      <p:sp>
        <p:nvSpPr>
          <p:cNvPr id="17423" name="badge"/>
          <p:cNvSpPr>
            <a:spLocks noChangeAspect="0"/>
          </p:cNvSpPr>
          <p:nvPr/>
        </p:nvSpPr>
        <p:spPr>
          <a:xfrm>
            <a:off x="521208" y="2962656"/>
            <a:ext cx="347472" cy="347472"/>
          </a:xfrm>
          <a:prstGeom prst="ellipse">
            <a:avLst/>
          </a:prstGeom>
          <a:solidFill>
            <a:srgbClr val="D92B2B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3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!</a:t>
            </a:r>
          </a:p>
        </p:txBody>
      </p:sp>
      <p:sp>
        <p:nvSpPr>
          <p:cNvPr id="17424" name="arr"/>
          <p:cNvSpPr>
            <a:spLocks noChangeAspect="0"/>
          </p:cNvSpPr>
          <p:nvPr/>
        </p:nvSpPr>
        <p:spPr>
          <a:xfrm>
            <a:off x="5815584" y="3008376"/>
            <a:ext cx="402336" cy="256032"/>
          </a:xfrm>
          <a:prstGeom prst="rightArrow">
            <a:avLst/>
          </a:prstGeom>
          <a:solidFill>
            <a:srgbClr val="5AAA46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>
              <a:lnSpc>
                <a:spcPct val="100000"/>
              </a:lnSpc>
            </a:pPr>
          </a:p>
        </p:txBody>
      </p:sp>
      <p:sp>
        <p:nvSpPr>
          <p:cNvPr id="17425" name="panel"/>
          <p:cNvSpPr>
            <a:spLocks noChangeAspect="0"/>
          </p:cNvSpPr>
          <p:nvPr/>
        </p:nvSpPr>
        <p:spPr>
          <a:xfrm>
            <a:off x="6263640" y="2834640"/>
            <a:ext cx="5257800" cy="603504"/>
          </a:xfrm>
          <a:prstGeom prst="roundRect">
            <a:avLst/>
          </a:prstGeom>
          <a:solidFill>
            <a:srgbClr val="D9EAFB"/>
          </a:solidFill>
          <a:ln w="19050">
            <a:solidFill>
              <a:srgbClr val="5AAA46"/>
            </a:solidFill>
          </a:ln>
        </p:spPr>
        <p:txBody>
          <a:bodyPr anchor="ctr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050" dirty="0">
                <a:solidFill>
                  <a:srgbClr val="1A1A1A"/>
                </a:solidFill>
                <a:latin typeface="Arial"/>
                <a:ea typeface="Arial"/>
                <a:cs typeface="Arial"/>
              </a:rPr>
              <a:t>Labelled mirror fallback, else an honest gap card</a:t>
            </a:r>
          </a:p>
        </p:txBody>
      </p:sp>
      <p:sp>
        <p:nvSpPr>
          <p:cNvPr id="17426" name="badge"/>
          <p:cNvSpPr>
            <a:spLocks noChangeAspect="0"/>
          </p:cNvSpPr>
          <p:nvPr/>
        </p:nvSpPr>
        <p:spPr>
          <a:xfrm>
            <a:off x="5916168" y="2962656"/>
            <a:ext cx="347472" cy="347472"/>
          </a:xfrm>
          <a:prstGeom prst="ellipse">
            <a:avLst/>
          </a:prstGeom>
          <a:solidFill>
            <a:srgbClr val="5AAA46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3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7427" name="panel"/>
          <p:cNvSpPr>
            <a:spLocks noChangeAspect="0"/>
          </p:cNvSpPr>
          <p:nvPr/>
        </p:nvSpPr>
        <p:spPr>
          <a:xfrm>
            <a:off x="868680" y="3547872"/>
            <a:ext cx="4892040" cy="603504"/>
          </a:xfrm>
          <a:prstGeom prst="roundRect">
            <a:avLst/>
          </a:prstGeom>
          <a:solidFill>
            <a:srgbClr val="FBE1EE"/>
          </a:solidFill>
          <a:ln w="19050">
            <a:solidFill>
              <a:srgbClr val="D92B2B"/>
            </a:solidFill>
          </a:ln>
        </p:spPr>
        <p:txBody>
          <a:bodyPr anchor="ctr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050" dirty="0">
                <a:solidFill>
                  <a:srgbClr val="1A1A1A"/>
                </a:solidFill>
                <a:latin typeface="Arial"/>
                <a:ea typeface="Arial"/>
                <a:cs typeface="Arial"/>
              </a:rPr>
              <a:t>Some IMD fields are undocumented</a:t>
            </a:r>
          </a:p>
        </p:txBody>
      </p:sp>
      <p:sp>
        <p:nvSpPr>
          <p:cNvPr id="17428" name="badge"/>
          <p:cNvSpPr>
            <a:spLocks noChangeAspect="0"/>
          </p:cNvSpPr>
          <p:nvPr/>
        </p:nvSpPr>
        <p:spPr>
          <a:xfrm>
            <a:off x="521208" y="3675888"/>
            <a:ext cx="347472" cy="347472"/>
          </a:xfrm>
          <a:prstGeom prst="ellipse">
            <a:avLst/>
          </a:prstGeom>
          <a:solidFill>
            <a:srgbClr val="D92B2B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3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!</a:t>
            </a:r>
          </a:p>
        </p:txBody>
      </p:sp>
      <p:sp>
        <p:nvSpPr>
          <p:cNvPr id="17429" name="arr"/>
          <p:cNvSpPr>
            <a:spLocks noChangeAspect="0"/>
          </p:cNvSpPr>
          <p:nvPr/>
        </p:nvSpPr>
        <p:spPr>
          <a:xfrm>
            <a:off x="5815584" y="3721608"/>
            <a:ext cx="402336" cy="256032"/>
          </a:xfrm>
          <a:prstGeom prst="rightArrow">
            <a:avLst/>
          </a:prstGeom>
          <a:solidFill>
            <a:srgbClr val="5AAA46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>
              <a:lnSpc>
                <a:spcPct val="100000"/>
              </a:lnSpc>
            </a:pPr>
          </a:p>
        </p:txBody>
      </p:sp>
      <p:sp>
        <p:nvSpPr>
          <p:cNvPr id="17430" name="panel"/>
          <p:cNvSpPr>
            <a:spLocks noChangeAspect="0"/>
          </p:cNvSpPr>
          <p:nvPr/>
        </p:nvSpPr>
        <p:spPr>
          <a:xfrm>
            <a:off x="6263640" y="3547872"/>
            <a:ext cx="5257800" cy="603504"/>
          </a:xfrm>
          <a:prstGeom prst="roundRect">
            <a:avLst/>
          </a:prstGeom>
          <a:solidFill>
            <a:srgbClr val="D9EAFB"/>
          </a:solidFill>
          <a:ln w="19050">
            <a:solidFill>
              <a:srgbClr val="5AAA46"/>
            </a:solidFill>
          </a:ln>
        </p:spPr>
        <p:txBody>
          <a:bodyPr anchor="ctr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050" dirty="0">
                <a:solidFill>
                  <a:srgbClr val="1A1A1A"/>
                </a:solidFill>
                <a:latin typeface="Arial"/>
                <a:ea typeface="Arial"/>
                <a:cs typeface="Arial"/>
              </a:rPr>
              <a:t>Documented fallbacks; the screen states its data grain</a:t>
            </a:r>
          </a:p>
        </p:txBody>
      </p:sp>
      <p:sp>
        <p:nvSpPr>
          <p:cNvPr id="17431" name="badge"/>
          <p:cNvSpPr>
            <a:spLocks noChangeAspect="0"/>
          </p:cNvSpPr>
          <p:nvPr/>
        </p:nvSpPr>
        <p:spPr>
          <a:xfrm>
            <a:off x="5916168" y="3675888"/>
            <a:ext cx="347472" cy="347472"/>
          </a:xfrm>
          <a:prstGeom prst="ellipse">
            <a:avLst/>
          </a:prstGeom>
          <a:solidFill>
            <a:srgbClr val="5AAA46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3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7432" name="panel"/>
          <p:cNvSpPr>
            <a:spLocks noChangeAspect="0"/>
          </p:cNvSpPr>
          <p:nvPr/>
        </p:nvSpPr>
        <p:spPr>
          <a:xfrm>
            <a:off x="868680" y="4261104"/>
            <a:ext cx="4892040" cy="603504"/>
          </a:xfrm>
          <a:prstGeom prst="roundRect">
            <a:avLst/>
          </a:prstGeom>
          <a:solidFill>
            <a:srgbClr val="FBE1EE"/>
          </a:solidFill>
          <a:ln w="19050">
            <a:solidFill>
              <a:srgbClr val="D92B2B"/>
            </a:solidFill>
          </a:ln>
        </p:spPr>
        <p:txBody>
          <a:bodyPr anchor="ctr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050" dirty="0">
                <a:solidFill>
                  <a:srgbClr val="1A1A1A"/>
                </a:solidFill>
                <a:latin typeface="Arial"/>
                <a:ea typeface="Arial"/>
                <a:cs typeface="Arial"/>
              </a:rPr>
              <a:t>iOS limits push alerts</a:t>
            </a:r>
          </a:p>
        </p:txBody>
      </p:sp>
      <p:sp>
        <p:nvSpPr>
          <p:cNvPr id="17433" name="badge"/>
          <p:cNvSpPr>
            <a:spLocks noChangeAspect="0"/>
          </p:cNvSpPr>
          <p:nvPr/>
        </p:nvSpPr>
        <p:spPr>
          <a:xfrm>
            <a:off x="521208" y="4389120"/>
            <a:ext cx="347472" cy="347472"/>
          </a:xfrm>
          <a:prstGeom prst="ellipse">
            <a:avLst/>
          </a:prstGeom>
          <a:solidFill>
            <a:srgbClr val="D92B2B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3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!</a:t>
            </a:r>
          </a:p>
        </p:txBody>
      </p:sp>
      <p:sp>
        <p:nvSpPr>
          <p:cNvPr id="17434" name="arr"/>
          <p:cNvSpPr>
            <a:spLocks noChangeAspect="0"/>
          </p:cNvSpPr>
          <p:nvPr/>
        </p:nvSpPr>
        <p:spPr>
          <a:xfrm>
            <a:off x="5815584" y="4434840"/>
            <a:ext cx="402336" cy="256032"/>
          </a:xfrm>
          <a:prstGeom prst="rightArrow">
            <a:avLst/>
          </a:prstGeom>
          <a:solidFill>
            <a:srgbClr val="5AAA46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>
              <a:lnSpc>
                <a:spcPct val="100000"/>
              </a:lnSpc>
            </a:pPr>
          </a:p>
        </p:txBody>
      </p:sp>
      <p:sp>
        <p:nvSpPr>
          <p:cNvPr id="17435" name="panel"/>
          <p:cNvSpPr>
            <a:spLocks noChangeAspect="0"/>
          </p:cNvSpPr>
          <p:nvPr/>
        </p:nvSpPr>
        <p:spPr>
          <a:xfrm>
            <a:off x="6263640" y="4261104"/>
            <a:ext cx="5257800" cy="603504"/>
          </a:xfrm>
          <a:prstGeom prst="roundRect">
            <a:avLst/>
          </a:prstGeom>
          <a:solidFill>
            <a:srgbClr val="D9EAFB"/>
          </a:solidFill>
          <a:ln w="19050">
            <a:solidFill>
              <a:srgbClr val="5AAA46"/>
            </a:solidFill>
          </a:ln>
        </p:spPr>
        <p:txBody>
          <a:bodyPr anchor="ctr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050" dirty="0">
                <a:solidFill>
                  <a:srgbClr val="1A1A1A"/>
                </a:solidFill>
                <a:latin typeface="Arial"/>
                <a:ea typeface="Arial"/>
                <a:cs typeface="Arial"/>
              </a:rPr>
              <a:t>Demo on Android; the inbox keeps every alert</a:t>
            </a:r>
          </a:p>
        </p:txBody>
      </p:sp>
      <p:sp>
        <p:nvSpPr>
          <p:cNvPr id="17436" name="badge"/>
          <p:cNvSpPr>
            <a:spLocks noChangeAspect="0"/>
          </p:cNvSpPr>
          <p:nvPr/>
        </p:nvSpPr>
        <p:spPr>
          <a:xfrm>
            <a:off x="5916168" y="4389120"/>
            <a:ext cx="347472" cy="347472"/>
          </a:xfrm>
          <a:prstGeom prst="ellipse">
            <a:avLst/>
          </a:prstGeom>
          <a:solidFill>
            <a:srgbClr val="5AAA46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3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7437" name="tl"/>
          <p:cNvSpPr>
            <a:spLocks noChangeAspect="0"/>
          </p:cNvSpPr>
          <p:nvPr/>
        </p:nvSpPr>
        <p:spPr>
          <a:xfrm>
            <a:off x="612648" y="5102352"/>
            <a:ext cx="2542032" cy="566928"/>
          </a:xfrm>
          <a:prstGeom prst="roundRect">
            <a:avLst/>
          </a:prstGeom>
          <a:solidFill>
            <a:srgbClr val="D9480F"/>
          </a:solidFill>
          <a:ln w="12700">
            <a:solidFill>
              <a:srgbClr val="000000"/>
            </a:solidFill>
          </a:ln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95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Day 1  ·  static-IP host + key registration</a:t>
            </a:r>
          </a:p>
        </p:txBody>
      </p:sp>
      <p:sp>
        <p:nvSpPr>
          <p:cNvPr id="17438" name="arr"/>
          <p:cNvSpPr>
            <a:spLocks noChangeAspect="0"/>
          </p:cNvSpPr>
          <p:nvPr/>
        </p:nvSpPr>
        <p:spPr>
          <a:xfrm>
            <a:off x="3172968" y="5294376"/>
            <a:ext cx="274320" cy="182880"/>
          </a:xfrm>
          <a:prstGeom prst="rightArrow">
            <a:avLst/>
          </a:prstGeom>
          <a:solidFill>
            <a:srgbClr val="595959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>
              <a:lnSpc>
                <a:spcPct val="100000"/>
              </a:lnSpc>
            </a:pPr>
          </a:p>
        </p:txBody>
      </p:sp>
      <p:sp>
        <p:nvSpPr>
          <p:cNvPr id="17439" name="tl"/>
          <p:cNvSpPr>
            <a:spLocks noChangeAspect="0"/>
          </p:cNvSpPr>
          <p:nvPr/>
        </p:nvSpPr>
        <p:spPr>
          <a:xfrm>
            <a:off x="3465576" y="5102352"/>
            <a:ext cx="2542032" cy="566928"/>
          </a:xfrm>
          <a:prstGeom prst="roundRect">
            <a:avLst/>
          </a:prstGeom>
          <a:solidFill>
            <a:srgbClr val="003366"/>
          </a:solidFill>
          <a:ln w="12700">
            <a:solidFill>
              <a:srgbClr val="000000"/>
            </a:solidFill>
          </a:ln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95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Week 1  ·  captured-payload mock (done)</a:t>
            </a:r>
          </a:p>
        </p:txBody>
      </p:sp>
      <p:sp>
        <p:nvSpPr>
          <p:cNvPr id="17440" name="arr"/>
          <p:cNvSpPr>
            <a:spLocks noChangeAspect="0"/>
          </p:cNvSpPr>
          <p:nvPr/>
        </p:nvSpPr>
        <p:spPr>
          <a:xfrm>
            <a:off x="6025896" y="5294376"/>
            <a:ext cx="274320" cy="182880"/>
          </a:xfrm>
          <a:prstGeom prst="rightArrow">
            <a:avLst/>
          </a:prstGeom>
          <a:solidFill>
            <a:srgbClr val="595959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>
              <a:lnSpc>
                <a:spcPct val="100000"/>
              </a:lnSpc>
            </a:pPr>
          </a:p>
        </p:txBody>
      </p:sp>
      <p:sp>
        <p:nvSpPr>
          <p:cNvPr id="17441" name="tl"/>
          <p:cNvSpPr>
            <a:spLocks noChangeAspect="0"/>
          </p:cNvSpPr>
          <p:nvPr/>
        </p:nvSpPr>
        <p:spPr>
          <a:xfrm>
            <a:off x="6318504" y="5102352"/>
            <a:ext cx="2542032" cy="566928"/>
          </a:xfrm>
          <a:prstGeom prst="roundRect">
            <a:avLst/>
          </a:prstGeom>
          <a:solidFill>
            <a:srgbClr val="003366"/>
          </a:solidFill>
          <a:ln w="12700">
            <a:solidFill>
              <a:srgbClr val="000000"/>
            </a:solidFill>
          </a:ln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95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Week 3  ·  live keyed pipeline</a:t>
            </a:r>
          </a:p>
        </p:txBody>
      </p:sp>
      <p:sp>
        <p:nvSpPr>
          <p:cNvPr id="17442" name="arr"/>
          <p:cNvSpPr>
            <a:spLocks noChangeAspect="0"/>
          </p:cNvSpPr>
          <p:nvPr/>
        </p:nvSpPr>
        <p:spPr>
          <a:xfrm>
            <a:off x="8878824" y="5294376"/>
            <a:ext cx="274320" cy="182880"/>
          </a:xfrm>
          <a:prstGeom prst="rightArrow">
            <a:avLst/>
          </a:prstGeom>
          <a:solidFill>
            <a:srgbClr val="595959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>
              <a:lnSpc>
                <a:spcPct val="100000"/>
              </a:lnSpc>
            </a:pPr>
          </a:p>
        </p:txBody>
      </p:sp>
      <p:sp>
        <p:nvSpPr>
          <p:cNvPr id="17443" name="tl"/>
          <p:cNvSpPr>
            <a:spLocks noChangeAspect="0"/>
          </p:cNvSpPr>
          <p:nvPr/>
        </p:nvSpPr>
        <p:spPr>
          <a:xfrm>
            <a:off x="9171432" y="5102352"/>
            <a:ext cx="2542032" cy="566928"/>
          </a:xfrm>
          <a:prstGeom prst="roundRect">
            <a:avLst/>
          </a:prstGeom>
          <a:solidFill>
            <a:srgbClr val="003366"/>
          </a:solidFill>
          <a:ln w="12700">
            <a:solidFill>
              <a:srgbClr val="000000"/>
            </a:solidFill>
          </a:ln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95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Finale  ·  demo: 3 personas, push, adapters</a:t>
            </a:r>
          </a:p>
        </p:txBody>
      </p:sp>
      <p:sp>
        <p:nvSpPr>
          <p:cNvPr id="17444" name="panel"/>
          <p:cNvSpPr>
            <a:spLocks noChangeAspect="0"/>
          </p:cNvSpPr>
          <p:nvPr/>
        </p:nvSpPr>
        <p:spPr>
          <a:xfrm>
            <a:off x="612648" y="5760720"/>
            <a:ext cx="10954512" cy="566928"/>
          </a:xfrm>
          <a:prstGeom prst="roundRect">
            <a:avLst/>
          </a:prstGeom>
          <a:solidFill>
            <a:srgbClr val="F6E43B"/>
          </a:solidFill>
          <a:ln w="19050">
            <a:solidFill>
              <a:srgbClr val="000000"/>
            </a:solidFill>
          </a:ln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000" b="1" dirty="0">
                <a:solidFill>
                  <a:srgbClr val="D92B2B"/>
                </a:solidFill>
                <a:latin typeface="Arial"/>
                <a:ea typeface="Arial"/>
                <a:cs typeface="Arial"/>
              </a:rPr>
              <a:t>Viability: </a:t>
            </a:r>
            <a:r>
              <a:rPr lang="en-US" sz="1000" dirty="0">
                <a:solidFill>
                  <a:srgbClr val="1A1A1A"/>
                </a:solidFill>
                <a:latin typeface="Arial"/>
                <a:ea typeface="Arial"/>
                <a:cs typeface="Arial"/>
              </a:rPr>
              <a:t>one container on a static-IP VM · one IMD API account (2 DEV + 2 PROD keys, attribution ledger on request) · no paid services · IMD data with attribution; CPCB/CAMS labelled adapters.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11841480" y="6035040"/>
            <a:ext cx="100" cy="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783080" cy="804672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rgbClr val="003366"/>
                </a:solidFill>
              </a:rPr>
              <a:t>Zencoderss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2" name="heading_pill"/>
          <p:cNvSpPr>
            <a:spLocks noChangeAspect="0"/>
          </p:cNvSpPr>
          <p:nvPr/>
        </p:nvSpPr>
        <p:spPr>
          <a:xfrm>
            <a:off x="3466948" y="164592"/>
            <a:ext cx="5257800" cy="676656"/>
          </a:xfrm>
          <a:prstGeom prst="roundRect">
            <a:avLst>
              <a:gd name="adj" fmla="val 50000"/>
            </a:avLst>
          </a:prstGeom>
          <a:solidFill>
            <a:srgbClr val="003366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2400" b="1" dirty="0">
                <a:solidFill>
                  <a:srgbClr val="FFFFFF"/>
                </a:solidFill>
                <a:latin typeface="Arial Black"/>
                <a:ea typeface="Arial Black"/>
                <a:cs typeface="Arial Black"/>
              </a:rPr>
              <a:t>IMPACT AND BENEFITS</a:t>
            </a:r>
          </a:p>
        </p:txBody>
      </p:sp>
      <p:sp>
        <p:nvSpPr>
          <p:cNvPr id="17413" name="chip"/>
          <p:cNvSpPr>
            <a:spLocks noChangeAspect="0"/>
          </p:cNvSpPr>
          <p:nvPr/>
        </p:nvSpPr>
        <p:spPr>
          <a:xfrm>
            <a:off x="612648" y="932688"/>
            <a:ext cx="4663440" cy="310896"/>
          </a:xfrm>
          <a:prstGeom prst="roundRect">
            <a:avLst>
              <a:gd name="adj" fmla="val 50000"/>
            </a:avLst>
          </a:prstGeom>
          <a:solidFill>
            <a:srgbClr val="003366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8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Potential impact on the target audience</a:t>
            </a:r>
          </a:p>
        </p:txBody>
      </p:sp>
      <p:sp>
        <p:nvSpPr>
          <p:cNvPr id="17414" name="panel"/>
          <p:cNvSpPr>
            <a:spLocks noChangeAspect="0"/>
          </p:cNvSpPr>
          <p:nvPr/>
        </p:nvSpPr>
        <p:spPr>
          <a:xfrm>
            <a:off x="612648" y="1335024"/>
            <a:ext cx="7086600" cy="2377440"/>
          </a:xfrm>
          <a:prstGeom prst="roundRect">
            <a:avLst/>
          </a:prstGeom>
          <a:solidFill>
            <a:srgbClr val="D9EAFB"/>
          </a:solidFill>
          <a:ln w="19050">
            <a:solidFill>
              <a:srgbClr val="000000"/>
            </a:solidFill>
          </a:ln>
        </p:spPr>
        <p:txBody>
          <a:bodyPr anchor="t" wrap="square">
            <a:normAutofit/>
          </a:bodyPr>
          <a:lstStyle/>
          <a:p>
            <a:pPr>
              <a:lnSpc>
                <a:spcPct val="100000"/>
              </a:lnSpc>
            </a:pPr>
          </a:p>
        </p:txBody>
      </p:sp>
      <p:sp>
        <p:nvSpPr>
          <p:cNvPr id="17415" name="chip"/>
          <p:cNvSpPr>
            <a:spLocks noChangeAspect="0"/>
          </p:cNvSpPr>
          <p:nvPr/>
        </p:nvSpPr>
        <p:spPr>
          <a:xfrm>
            <a:off x="777240" y="1481328"/>
            <a:ext cx="1417320" cy="640080"/>
          </a:xfrm>
          <a:prstGeom prst="roundRect">
            <a:avLst>
              <a:gd name="adj" fmla="val 50000"/>
            </a:avLst>
          </a:prstGeom>
          <a:solidFill>
            <a:srgbClr val="003366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1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Commuter</a:t>
            </a:r>
          </a:p>
        </p:txBody>
      </p:sp>
      <p:sp>
        <p:nvSpPr>
          <p:cNvPr id="17416" name="arr"/>
          <p:cNvSpPr>
            <a:spLocks noChangeAspect="0"/>
          </p:cNvSpPr>
          <p:nvPr/>
        </p:nvSpPr>
        <p:spPr>
          <a:xfrm>
            <a:off x="2286000" y="1673352"/>
            <a:ext cx="347472" cy="256032"/>
          </a:xfrm>
          <a:prstGeom prst="rightArrow">
            <a:avLst/>
          </a:prstGeom>
          <a:solidFill>
            <a:srgbClr val="F26522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>
              <a:lnSpc>
                <a:spcPct val="100000"/>
              </a:lnSpc>
            </a:pPr>
          </a:p>
        </p:txBody>
      </p:sp>
      <p:sp>
        <p:nvSpPr>
          <p:cNvPr id="17417" name="panel"/>
          <p:cNvSpPr>
            <a:spLocks noChangeAspect="0"/>
          </p:cNvSpPr>
          <p:nvPr/>
        </p:nvSpPr>
        <p:spPr>
          <a:xfrm>
            <a:off x="2724912" y="1481328"/>
            <a:ext cx="233172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950" dirty="0">
                <a:solidFill>
                  <a:srgbClr val="1A1A1A"/>
                </a:solidFill>
                <a:latin typeface="Arial"/>
                <a:ea typeface="Arial"/>
                <a:cs typeface="Arial"/>
              </a:rPr>
              <a:t>Fog window + “leave 20 min early”</a:t>
            </a:r>
          </a:p>
        </p:txBody>
      </p:sp>
      <p:sp>
        <p:nvSpPr>
          <p:cNvPr id="17418" name="arr"/>
          <p:cNvSpPr>
            <a:spLocks noChangeAspect="0"/>
          </p:cNvSpPr>
          <p:nvPr/>
        </p:nvSpPr>
        <p:spPr>
          <a:xfrm>
            <a:off x="5138928" y="1673352"/>
            <a:ext cx="347472" cy="256032"/>
          </a:xfrm>
          <a:prstGeom prst="rightArrow">
            <a:avLst/>
          </a:prstGeom>
          <a:solidFill>
            <a:srgbClr val="F26522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>
              <a:lnSpc>
                <a:spcPct val="100000"/>
              </a:lnSpc>
            </a:pPr>
          </a:p>
        </p:txBody>
      </p:sp>
      <p:sp>
        <p:nvSpPr>
          <p:cNvPr id="17419" name="panel"/>
          <p:cNvSpPr>
            <a:spLocks noChangeAspect="0"/>
          </p:cNvSpPr>
          <p:nvPr/>
        </p:nvSpPr>
        <p:spPr>
          <a:xfrm>
            <a:off x="5577840" y="1481328"/>
            <a:ext cx="196596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AAA46"/>
            </a:solidFill>
          </a:ln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750" b="1" dirty="0">
                <a:solidFill>
                  <a:srgbClr val="595959"/>
                </a:solidFill>
                <a:latin typeface="Arial"/>
                <a:ea typeface="Arial"/>
                <a:cs typeface="Arial"/>
              </a:rPr>
              <a:t>we measure:</a:t>
            </a:r>
          </a:p>
          <a:p>
            <a:pPr algn="ctr">
              <a:lnSpc>
                <a:spcPct val="100000"/>
              </a:lnSpc>
            </a:pPr>
            <a:r>
              <a:rPr lang="en-US" sz="900" dirty="0">
                <a:solidFill>
                  <a:srgbClr val="1A1A1A"/>
                </a:solidFill>
                <a:latin typeface="Arial"/>
                <a:ea typeface="Arial"/>
                <a:cs typeface="Arial"/>
              </a:rPr>
              <a:t>time to state the action</a:t>
            </a:r>
          </a:p>
        </p:txBody>
      </p:sp>
      <p:sp>
        <p:nvSpPr>
          <p:cNvPr id="17420" name="chip"/>
          <p:cNvSpPr>
            <a:spLocks noChangeAspect="0"/>
          </p:cNvSpPr>
          <p:nvPr/>
        </p:nvSpPr>
        <p:spPr>
          <a:xfrm>
            <a:off x="777240" y="2231136"/>
            <a:ext cx="1417320" cy="640080"/>
          </a:xfrm>
          <a:prstGeom prst="roundRect">
            <a:avLst>
              <a:gd name="adj" fmla="val 50000"/>
            </a:avLst>
          </a:prstGeom>
          <a:solidFill>
            <a:srgbClr val="003366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1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Farmer</a:t>
            </a:r>
          </a:p>
        </p:txBody>
      </p:sp>
      <p:sp>
        <p:nvSpPr>
          <p:cNvPr id="17421" name="arr"/>
          <p:cNvSpPr>
            <a:spLocks noChangeAspect="0"/>
          </p:cNvSpPr>
          <p:nvPr/>
        </p:nvSpPr>
        <p:spPr>
          <a:xfrm>
            <a:off x="2286000" y="2423160"/>
            <a:ext cx="347472" cy="256032"/>
          </a:xfrm>
          <a:prstGeom prst="rightArrow">
            <a:avLst/>
          </a:prstGeom>
          <a:solidFill>
            <a:srgbClr val="F26522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>
              <a:lnSpc>
                <a:spcPct val="100000"/>
              </a:lnSpc>
            </a:pPr>
          </a:p>
        </p:txBody>
      </p:sp>
      <p:sp>
        <p:nvSpPr>
          <p:cNvPr id="17422" name="panel"/>
          <p:cNvSpPr>
            <a:spLocks noChangeAspect="0"/>
          </p:cNvSpPr>
          <p:nvPr/>
        </p:nvSpPr>
        <p:spPr>
          <a:xfrm>
            <a:off x="2724912" y="2231136"/>
            <a:ext cx="233172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950" dirty="0">
                <a:solidFill>
                  <a:srgbClr val="1A1A1A"/>
                </a:solidFill>
                <a:latin typeface="Arial"/>
                <a:ea typeface="Arial"/>
                <a:cs typeface="Arial"/>
              </a:rPr>
              <a:t>Agromet + sowing window,
rainfall vs normal</a:t>
            </a:r>
          </a:p>
        </p:txBody>
      </p:sp>
      <p:sp>
        <p:nvSpPr>
          <p:cNvPr id="17423" name="arr"/>
          <p:cNvSpPr>
            <a:spLocks noChangeAspect="0"/>
          </p:cNvSpPr>
          <p:nvPr/>
        </p:nvSpPr>
        <p:spPr>
          <a:xfrm>
            <a:off x="5138928" y="2423160"/>
            <a:ext cx="347472" cy="256032"/>
          </a:xfrm>
          <a:prstGeom prst="rightArrow">
            <a:avLst/>
          </a:prstGeom>
          <a:solidFill>
            <a:srgbClr val="F26522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>
              <a:lnSpc>
                <a:spcPct val="100000"/>
              </a:lnSpc>
            </a:pPr>
          </a:p>
        </p:txBody>
      </p:sp>
      <p:sp>
        <p:nvSpPr>
          <p:cNvPr id="17424" name="panel"/>
          <p:cNvSpPr>
            <a:spLocks noChangeAspect="0"/>
          </p:cNvSpPr>
          <p:nvPr/>
        </p:nvSpPr>
        <p:spPr>
          <a:xfrm>
            <a:off x="5577840" y="2231136"/>
            <a:ext cx="196596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AAA46"/>
            </a:solidFill>
          </a:ln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750" b="1" dirty="0">
                <a:solidFill>
                  <a:srgbClr val="595959"/>
                </a:solidFill>
                <a:latin typeface="Arial"/>
                <a:ea typeface="Arial"/>
                <a:cs typeface="Arial"/>
              </a:rPr>
              <a:t>we measure:</a:t>
            </a:r>
          </a:p>
          <a:p>
            <a:pPr algn="ctr">
              <a:lnSpc>
                <a:spcPct val="100000"/>
              </a:lnSpc>
            </a:pPr>
            <a:r>
              <a:rPr lang="en-US" sz="900" dirty="0">
                <a:solidFill>
                  <a:srgbClr val="1A1A1A"/>
                </a:solidFill>
                <a:latin typeface="Arial"/>
                <a:ea typeface="Arial"/>
                <a:cs typeface="Arial"/>
              </a:rPr>
              <a:t>action recalled after 5 min</a:t>
            </a:r>
          </a:p>
        </p:txBody>
      </p:sp>
      <p:sp>
        <p:nvSpPr>
          <p:cNvPr id="17425" name="chip"/>
          <p:cNvSpPr>
            <a:spLocks noChangeAspect="0"/>
          </p:cNvSpPr>
          <p:nvPr/>
        </p:nvSpPr>
        <p:spPr>
          <a:xfrm>
            <a:off x="777240" y="2980944"/>
            <a:ext cx="1417320" cy="640080"/>
          </a:xfrm>
          <a:prstGeom prst="roundRect">
            <a:avLst>
              <a:gd name="adj" fmla="val 50000"/>
            </a:avLst>
          </a:prstGeom>
          <a:solidFill>
            <a:srgbClr val="003366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1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Health</a:t>
            </a:r>
          </a:p>
        </p:txBody>
      </p:sp>
      <p:sp>
        <p:nvSpPr>
          <p:cNvPr id="17426" name="arr"/>
          <p:cNvSpPr>
            <a:spLocks noChangeAspect="0"/>
          </p:cNvSpPr>
          <p:nvPr/>
        </p:nvSpPr>
        <p:spPr>
          <a:xfrm>
            <a:off x="2286000" y="3172968"/>
            <a:ext cx="347472" cy="256032"/>
          </a:xfrm>
          <a:prstGeom prst="rightArrow">
            <a:avLst/>
          </a:prstGeom>
          <a:solidFill>
            <a:srgbClr val="F26522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>
              <a:lnSpc>
                <a:spcPct val="100000"/>
              </a:lnSpc>
            </a:pPr>
          </a:p>
        </p:txBody>
      </p:sp>
      <p:sp>
        <p:nvSpPr>
          <p:cNvPr id="17427" name="panel"/>
          <p:cNvSpPr>
            <a:spLocks noChangeAspect="0"/>
          </p:cNvSpPr>
          <p:nvPr/>
        </p:nvSpPr>
        <p:spPr>
          <a:xfrm>
            <a:off x="2724912" y="2980944"/>
            <a:ext cx="233172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950" dirty="0">
                <a:solidFill>
                  <a:srgbClr val="1A1A1A"/>
                </a:solidFill>
                <a:latin typeface="Arial"/>
                <a:ea typeface="Arial"/>
                <a:cs typeface="Arial"/>
              </a:rPr>
              <a:t>Heat card + “IMD does not
publish pollen”</a:t>
            </a:r>
          </a:p>
        </p:txBody>
      </p:sp>
      <p:sp>
        <p:nvSpPr>
          <p:cNvPr id="17428" name="arr"/>
          <p:cNvSpPr>
            <a:spLocks noChangeAspect="0"/>
          </p:cNvSpPr>
          <p:nvPr/>
        </p:nvSpPr>
        <p:spPr>
          <a:xfrm>
            <a:off x="5138928" y="3172968"/>
            <a:ext cx="347472" cy="256032"/>
          </a:xfrm>
          <a:prstGeom prst="rightArrow">
            <a:avLst/>
          </a:prstGeom>
          <a:solidFill>
            <a:srgbClr val="F26522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>
              <a:lnSpc>
                <a:spcPct val="100000"/>
              </a:lnSpc>
            </a:pPr>
          </a:p>
        </p:txBody>
      </p:sp>
      <p:sp>
        <p:nvSpPr>
          <p:cNvPr id="17429" name="panel"/>
          <p:cNvSpPr>
            <a:spLocks noChangeAspect="0"/>
          </p:cNvSpPr>
          <p:nvPr/>
        </p:nvSpPr>
        <p:spPr>
          <a:xfrm>
            <a:off x="5577840" y="2980944"/>
            <a:ext cx="196596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AAA46"/>
            </a:solidFill>
          </a:ln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750" b="1" dirty="0">
                <a:solidFill>
                  <a:srgbClr val="595959"/>
                </a:solidFill>
                <a:latin typeface="Arial"/>
                <a:ea typeface="Arial"/>
                <a:cs typeface="Arial"/>
              </a:rPr>
              <a:t>we measure:</a:t>
            </a:r>
          </a:p>
          <a:p>
            <a:pPr algn="ctr">
              <a:lnSpc>
                <a:spcPct val="100000"/>
              </a:lnSpc>
            </a:pPr>
            <a:r>
              <a:rPr lang="en-US" sz="900" dirty="0">
                <a:solidFill>
                  <a:srgbClr val="1A1A1A"/>
                </a:solidFill>
                <a:latin typeface="Arial"/>
                <a:ea typeface="Arial"/>
                <a:cs typeface="Arial"/>
              </a:rPr>
              <a:t>% reading the gap as a gap</a:t>
            </a:r>
          </a:p>
        </p:txBody>
      </p:sp>
      <p:sp>
        <p:nvSpPr>
          <p:cNvPr id="17430" name="chip"/>
          <p:cNvSpPr>
            <a:spLocks noChangeAspect="0"/>
          </p:cNvSpPr>
          <p:nvPr/>
        </p:nvSpPr>
        <p:spPr>
          <a:xfrm>
            <a:off x="612648" y="3877056"/>
            <a:ext cx="7086600" cy="310896"/>
          </a:xfrm>
          <a:prstGeom prst="roundRect">
            <a:avLst>
              <a:gd name="adj" fmla="val 50000"/>
            </a:avLst>
          </a:prstGeom>
          <a:solidFill>
            <a:srgbClr val="003366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8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Benefits of the solution (social, economic, environmental, etc.)</a:t>
            </a:r>
          </a:p>
        </p:txBody>
      </p:sp>
      <p:sp>
        <p:nvSpPr>
          <p:cNvPr id="17431" name="panel"/>
          <p:cNvSpPr>
            <a:spLocks noChangeAspect="0"/>
          </p:cNvSpPr>
          <p:nvPr/>
        </p:nvSpPr>
        <p:spPr>
          <a:xfrm>
            <a:off x="612648" y="4279392"/>
            <a:ext cx="7086600" cy="2048256"/>
          </a:xfrm>
          <a:prstGeom prst="roundRect">
            <a:avLst/>
          </a:prstGeom>
          <a:solidFill>
            <a:srgbClr val="FBE1EE"/>
          </a:solidFill>
          <a:ln w="19050">
            <a:solidFill>
              <a:srgbClr val="000000"/>
            </a:solidFill>
          </a:ln>
        </p:spPr>
        <p:txBody>
          <a:bodyPr anchor="t"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lang="en-US" sz="1100" b="1" dirty="0">
                <a:solidFill>
                  <a:srgbClr val="E5399A"/>
                </a:solidFill>
                <a:latin typeface="Arial"/>
                <a:ea typeface="Arial"/>
                <a:cs typeface="Arial"/>
              </a:rPr>
              <a:t>●  </a:t>
            </a:r>
            <a:r>
              <a:rPr lang="en-US" sz="1100" b="1" dirty="0">
                <a:solidFill>
                  <a:srgbClr val="D92B2B"/>
                </a:solidFill>
                <a:latin typeface="Arial"/>
                <a:ea typeface="Arial"/>
                <a:cs typeface="Arial"/>
              </a:rPr>
              <a:t>Earlier action: </a:t>
            </a:r>
            <a:r>
              <a:rPr lang="en-US" sz="1100" dirty="0">
                <a:solidFill>
                  <a:srgbClr val="1A1A1A"/>
                </a:solidFill>
                <a:latin typeface="Arial"/>
                <a:ea typeface="Arial"/>
                <a:cs typeface="Arial"/>
              </a:rPr>
              <a:t>each card states what to do and how fast.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lang="en-US" sz="1100" b="1" dirty="0">
                <a:solidFill>
                  <a:srgbClr val="E5399A"/>
                </a:solidFill>
                <a:latin typeface="Arial"/>
                <a:ea typeface="Arial"/>
                <a:cs typeface="Arial"/>
              </a:rPr>
              <a:t>●  </a:t>
            </a:r>
            <a:r>
              <a:rPr lang="en-US" sz="1100" b="1" dirty="0">
                <a:solidFill>
                  <a:srgbClr val="D92B2B"/>
                </a:solidFill>
                <a:latin typeface="Arial"/>
                <a:ea typeface="Arial"/>
                <a:cs typeface="Arial"/>
              </a:rPr>
              <a:t>Traceable trust: </a:t>
            </a:r>
            <a:r>
              <a:rPr lang="en-US" sz="1100" dirty="0">
                <a:solidFill>
                  <a:srgbClr val="1A1A1A"/>
                </a:solidFill>
                <a:latin typeface="Arial"/>
                <a:ea typeface="Arial"/>
                <a:cs typeface="Arial"/>
              </a:rPr>
              <a:t>every reading names source, station and age.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lang="en-US" sz="1100" b="1" dirty="0">
                <a:solidFill>
                  <a:srgbClr val="E5399A"/>
                </a:solidFill>
                <a:latin typeface="Arial"/>
                <a:ea typeface="Arial"/>
                <a:cs typeface="Arial"/>
              </a:rPr>
              <a:t>●  </a:t>
            </a:r>
            <a:r>
              <a:rPr lang="en-US" sz="1100" b="1" dirty="0">
                <a:solidFill>
                  <a:srgbClr val="D92B2B"/>
                </a:solidFill>
                <a:latin typeface="Arial"/>
                <a:ea typeface="Arial"/>
                <a:cs typeface="Arial"/>
              </a:rPr>
              <a:t>Works offline: </a:t>
            </a:r>
            <a:r>
              <a:rPr lang="en-US" sz="1100" dirty="0">
                <a:solidFill>
                  <a:srgbClr val="1A1A1A"/>
                </a:solidFill>
                <a:latin typeface="Arial"/>
                <a:ea typeface="Arial"/>
                <a:cs typeface="Arial"/>
              </a:rPr>
              <a:t>the home shell keeps the last forecast.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lang="en-US" sz="1100" b="1" dirty="0">
                <a:solidFill>
                  <a:srgbClr val="E5399A"/>
                </a:solidFill>
                <a:latin typeface="Arial"/>
                <a:ea typeface="Arial"/>
                <a:cs typeface="Arial"/>
              </a:rPr>
              <a:t>●  </a:t>
            </a:r>
            <a:r>
              <a:rPr lang="en-US" sz="1100" b="1" dirty="0">
                <a:solidFill>
                  <a:srgbClr val="D92B2B"/>
                </a:solidFill>
                <a:latin typeface="Arial"/>
                <a:ea typeface="Arial"/>
                <a:cs typeface="Arial"/>
              </a:rPr>
              <a:t>Hindi + English: </a:t>
            </a:r>
            <a:r>
              <a:rPr lang="en-US" sz="1100" dirty="0">
                <a:solidFill>
                  <a:srgbClr val="1A1A1A"/>
                </a:solidFill>
                <a:latin typeface="Arial"/>
                <a:ea typeface="Arial"/>
                <a:cs typeface="Arial"/>
              </a:rPr>
              <a:t>warning text is human-reviewed, never raw machine translation.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lang="en-US" sz="1100" b="1" dirty="0">
                <a:solidFill>
                  <a:srgbClr val="E5399A"/>
                </a:solidFill>
                <a:latin typeface="Arial"/>
                <a:ea typeface="Arial"/>
                <a:cs typeface="Arial"/>
              </a:rPr>
              <a:t>●  </a:t>
            </a:r>
            <a:r>
              <a:rPr lang="en-US" sz="1100" b="1" dirty="0">
                <a:solidFill>
                  <a:srgbClr val="D92B2B"/>
                </a:solidFill>
                <a:latin typeface="Arial"/>
                <a:ea typeface="Arial"/>
                <a:cs typeface="Arial"/>
              </a:rPr>
              <a:t>Honest gaps: </a:t>
            </a:r>
            <a:r>
              <a:rPr lang="en-US" sz="1100" dirty="0">
                <a:solidFill>
                  <a:srgbClr val="1A1A1A"/>
                </a:solidFill>
                <a:latin typeface="Arial"/>
                <a:ea typeface="Arial"/>
                <a:cs typeface="Arial"/>
              </a:rPr>
              <a:t>missing data shows as a gap, never a fake zero.</a:t>
            </a:r>
          </a:p>
        </p:txBody>
      </p:sp>
      <p:pic>
        <p:nvPicPr>
          <p:cNvPr id="17432" name="shot-hi"/>
          <p:cNvPicPr/>
        </p:nvPicPr>
        <p:blipFill>
          <a:blip r:embed="rId4"/>
          <a:stretch>
            <a:fillRect/>
          </a:stretch>
        </p:blipFill>
        <p:spPr>
          <a:xfrm>
            <a:off x="8915400" y="1335024"/>
            <a:ext cx="1645920" cy="3566160"/>
          </a:xfrm>
          <a:prstGeom prst="roundRect">
            <a:avLst/>
          </a:prstGeom>
          <a:noFill/>
          <a:ln w="19050">
            <a:solidFill>
              <a:srgbClr val="000000"/>
            </a:solidFill>
          </a:ln>
        </p:spPr>
      </p:pic>
      <p:sp>
        <p:nvSpPr>
          <p:cNvPr id="17433" name="chip"/>
          <p:cNvSpPr>
            <a:spLocks noChangeAspect="0"/>
          </p:cNvSpPr>
          <p:nvPr/>
        </p:nvSpPr>
        <p:spPr>
          <a:xfrm>
            <a:off x="7909560" y="4992624"/>
            <a:ext cx="3657600" cy="292608"/>
          </a:xfrm>
          <a:prstGeom prst="roundRect">
            <a:avLst>
              <a:gd name="adj" fmla="val 50000"/>
            </a:avLst>
          </a:prstGeom>
          <a:solidFill>
            <a:srgbClr val="F6E43B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7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HINDI ONBOARDING · OFFLINE SHELL</a:t>
            </a:r>
          </a:p>
        </p:txBody>
      </p:sp>
      <p:sp>
        <p:nvSpPr>
          <p:cNvPr id="17434" name="panel"/>
          <p:cNvSpPr>
            <a:spLocks noChangeAspect="0"/>
          </p:cNvSpPr>
          <p:nvPr/>
        </p:nvSpPr>
        <p:spPr>
          <a:xfrm>
            <a:off x="7909560" y="5376672"/>
            <a:ext cx="3657600" cy="950976"/>
          </a:xfrm>
          <a:prstGeom prst="roundRect">
            <a:avLst/>
          </a:prstGeom>
          <a:solidFill>
            <a:srgbClr val="003366"/>
          </a:solidFill>
          <a:ln w="19050">
            <a:solidFill>
              <a:srgbClr val="003366"/>
            </a:solidFill>
          </a:ln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1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No invented statistics. Impact is measured in the pilot.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11841480" y="6035040"/>
            <a:ext cx="100" cy="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783080" cy="804672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rgbClr val="003366"/>
                </a:solidFill>
              </a:rPr>
              <a:t>Zencoderss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2" name="heading_pill"/>
          <p:cNvSpPr>
            <a:spLocks noChangeAspect="0"/>
          </p:cNvSpPr>
          <p:nvPr/>
        </p:nvSpPr>
        <p:spPr>
          <a:xfrm>
            <a:off x="2895448" y="164592"/>
            <a:ext cx="6400800" cy="676656"/>
          </a:xfrm>
          <a:prstGeom prst="roundRect">
            <a:avLst>
              <a:gd name="adj" fmla="val 50000"/>
            </a:avLst>
          </a:prstGeom>
          <a:solidFill>
            <a:srgbClr val="2E9E4F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2400" b="1" dirty="0">
                <a:solidFill>
                  <a:srgbClr val="FFFFFF"/>
                </a:solidFill>
                <a:latin typeface="Arial Black"/>
                <a:ea typeface="Arial Black"/>
                <a:cs typeface="Arial Black"/>
              </a:rPr>
              <a:t>RESEARCH  AND REFERENCES</a:t>
            </a:r>
          </a:p>
        </p:txBody>
      </p:sp>
      <p:sp>
        <p:nvSpPr>
          <p:cNvPr id="17413" name="chip"/>
          <p:cNvSpPr>
            <a:spLocks noChangeAspect="0"/>
          </p:cNvSpPr>
          <p:nvPr/>
        </p:nvSpPr>
        <p:spPr>
          <a:xfrm>
            <a:off x="612648" y="932688"/>
            <a:ext cx="5852160" cy="310896"/>
          </a:xfrm>
          <a:prstGeom prst="roundRect">
            <a:avLst>
              <a:gd name="adj" fmla="val 50000"/>
            </a:avLst>
          </a:prstGeom>
          <a:solidFill>
            <a:srgbClr val="003366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8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Details / Links of the reference and research work</a:t>
            </a:r>
          </a:p>
        </p:txBody>
      </p:sp>
      <p:sp>
        <p:nvSpPr>
          <p:cNvPr id="17414" name="tile"/>
          <p:cNvSpPr>
            <a:spLocks noChangeAspect="0"/>
          </p:cNvSpPr>
          <p:nvPr/>
        </p:nvSpPr>
        <p:spPr>
          <a:xfrm>
            <a:off x="612648" y="1335024"/>
            <a:ext cx="2121408" cy="658368"/>
          </a:xfrm>
          <a:prstGeom prst="roundRect">
            <a:avLst/>
          </a:prstGeom>
          <a:solidFill>
            <a:srgbClr val="003366"/>
          </a:solidFill>
          <a:ln w="12700">
            <a:solidFill>
              <a:srgbClr val="000000"/>
            </a:solidFill>
          </a:ln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1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IMD</a:t>
            </a:r>
          </a:p>
          <a:p>
            <a:pPr algn="ctr">
              <a:lnSpc>
                <a:spcPct val="100000"/>
              </a:lnSpc>
            </a:pPr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official · keyed API</a:t>
            </a:r>
          </a:p>
        </p:txBody>
      </p:sp>
      <p:sp>
        <p:nvSpPr>
          <p:cNvPr id="17415" name="tile"/>
          <p:cNvSpPr>
            <a:spLocks noChangeAspect="0"/>
          </p:cNvSpPr>
          <p:nvPr/>
        </p:nvSpPr>
        <p:spPr>
          <a:xfrm>
            <a:off x="2843784" y="1335024"/>
            <a:ext cx="2121408" cy="658368"/>
          </a:xfrm>
          <a:prstGeom prst="roundRect">
            <a:avLst/>
          </a:prstGeom>
          <a:solidFill>
            <a:srgbClr val="4F81BD"/>
          </a:solidFill>
          <a:ln w="12700">
            <a:solidFill>
              <a:srgbClr val="000000"/>
            </a:solidFill>
          </a:ln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1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CPCB</a:t>
            </a:r>
          </a:p>
          <a:p>
            <a:pPr algn="ctr">
              <a:lnSpc>
                <a:spcPct val="100000"/>
              </a:lnSpc>
            </a:pPr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official · labelled adapter</a:t>
            </a:r>
          </a:p>
        </p:txBody>
      </p:sp>
      <p:sp>
        <p:nvSpPr>
          <p:cNvPr id="17416" name="tile"/>
          <p:cNvSpPr>
            <a:spLocks noChangeAspect="0"/>
          </p:cNvSpPr>
          <p:nvPr/>
        </p:nvSpPr>
        <p:spPr>
          <a:xfrm>
            <a:off x="5074920" y="1335024"/>
            <a:ext cx="2121408" cy="658368"/>
          </a:xfrm>
          <a:prstGeom prst="roundRect">
            <a:avLst/>
          </a:prstGeom>
          <a:solidFill>
            <a:srgbClr val="4F81BD"/>
          </a:solidFill>
          <a:ln w="12700">
            <a:solidFill>
              <a:srgbClr val="000000"/>
            </a:solidFill>
          </a:ln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1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Copernicus</a:t>
            </a:r>
          </a:p>
          <a:p>
            <a:pPr algn="ctr">
              <a:lnSpc>
                <a:spcPct val="100000"/>
              </a:lnSpc>
            </a:pPr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official · labelled</a:t>
            </a:r>
          </a:p>
        </p:txBody>
      </p:sp>
      <p:sp>
        <p:nvSpPr>
          <p:cNvPr id="17417" name="tile"/>
          <p:cNvSpPr>
            <a:spLocks noChangeAspect="0"/>
          </p:cNvSpPr>
          <p:nvPr/>
        </p:nvSpPr>
        <p:spPr>
          <a:xfrm>
            <a:off x="7306056" y="1335024"/>
            <a:ext cx="2121408" cy="658368"/>
          </a:xfrm>
          <a:prstGeom prst="roundRect">
            <a:avLst/>
          </a:prstGeom>
          <a:solidFill>
            <a:srgbClr val="4F81BD"/>
          </a:solidFill>
          <a:ln w="12700">
            <a:solidFill>
              <a:srgbClr val="000000"/>
            </a:solidFill>
          </a:ln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1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MeitY UX4G</a:t>
            </a:r>
          </a:p>
          <a:p>
            <a:pPr algn="ctr">
              <a:lnSpc>
                <a:spcPct val="100000"/>
              </a:lnSpc>
            </a:pPr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design standard</a:t>
            </a:r>
          </a:p>
        </p:txBody>
      </p:sp>
      <p:sp>
        <p:nvSpPr>
          <p:cNvPr id="17418" name="tile"/>
          <p:cNvSpPr>
            <a:spLocks noChangeAspect="0"/>
          </p:cNvSpPr>
          <p:nvPr/>
        </p:nvSpPr>
        <p:spPr>
          <a:xfrm>
            <a:off x="9537192" y="1335024"/>
            <a:ext cx="2121408" cy="658368"/>
          </a:xfrm>
          <a:prstGeom prst="roundRect">
            <a:avLst/>
          </a:prstGeom>
          <a:solidFill>
            <a:srgbClr val="003366"/>
          </a:solidFill>
          <a:ln w="12700">
            <a:solidFill>
              <a:srgbClr val="000000"/>
            </a:solidFill>
          </a:ln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1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Our mock</a:t>
            </a:r>
          </a:p>
          <a:p>
            <a:pPr algn="ctr">
              <a:lnSpc>
                <a:spcPct val="100000"/>
              </a:lnSpc>
            </a:pPr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32 tests · replay</a:t>
            </a:r>
          </a:p>
        </p:txBody>
      </p:sp>
      <p:sp>
        <p:nvSpPr>
          <p:cNvPr id="17419" name="panel"/>
          <p:cNvSpPr>
            <a:spLocks noChangeAspect="0"/>
          </p:cNvSpPr>
          <p:nvPr/>
        </p:nvSpPr>
        <p:spPr>
          <a:xfrm>
            <a:off x="612648" y="2121408"/>
            <a:ext cx="10954512" cy="2788920"/>
          </a:xfrm>
          <a:prstGeom prst="roundRect">
            <a:avLst/>
          </a:prstGeom>
          <a:solidFill>
            <a:srgbClr val="D9480F"/>
          </a:solidFill>
          <a:ln w="28575">
            <a:solidFill>
              <a:srgbClr val="000000"/>
            </a:solidFill>
          </a:ln>
        </p:spPr>
        <p:txBody>
          <a:bodyPr anchor="ctr"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1400"/>
              </a:spcAft>
            </a:pPr>
            <a:r>
              <a:rPr lang="en-US" sz="11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1.  IMD API reference + portal user guide (key, hourly JWT, static IP)  </a:t>
            </a:r>
            <a:r>
              <a:rPr lang="en-US" sz="1100" b="1" u="sng" dirty="0">
                <a:solidFill>
                  <a:srgbClr val="FFE08A"/>
                </a:solidFill>
                <a:latin typeface="Arial"/>
                <a:ea typeface="Arial"/>
                <a:cs typeface="Arial"/>
              </a:rPr>
              <a:t>api.imd.gov.in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</a:pPr>
            <a:r>
              <a:rPr lang="en-US" sz="11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2.  CPCB real-time AQI, GODL  </a:t>
            </a:r>
            <a:r>
              <a:rPr lang="en-US" sz="1100" b="1" u="sng" dirty="0">
                <a:solidFill>
                  <a:srgbClr val="FFE08A"/>
                </a:solidFill>
                <a:latin typeface="Arial"/>
                <a:ea typeface="Arial"/>
                <a:cs typeface="Arial"/>
              </a:rPr>
              <a:t>data.gov.in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</a:pPr>
            <a:r>
              <a:rPr lang="en-US" sz="11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3.  Copernicus CAMS atmosphere data store  </a:t>
            </a:r>
            <a:r>
              <a:rPr lang="en-US" sz="1100" b="1" u="sng" dirty="0">
                <a:solidFill>
                  <a:srgbClr val="FFE08A"/>
                </a:solidFill>
                <a:latin typeface="Arial"/>
                <a:ea typeface="Arial"/>
                <a:cs typeface="Arial"/>
              </a:rPr>
              <a:t>ads.atmosphere.copernicus.eu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</a:pPr>
            <a:r>
              <a:rPr lang="en-US" sz="11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4.  MeitY UX4G design system + PIB Mausam note (2023)  </a:t>
            </a:r>
            <a:r>
              <a:rPr lang="en-US" sz="1100" b="1" u="sng" dirty="0">
                <a:solidFill>
                  <a:srgbClr val="FFE08A"/>
                </a:solidFill>
                <a:latin typeface="Arial"/>
                <a:ea typeface="Arial"/>
                <a:cs typeface="Arial"/>
              </a:rPr>
              <a:t>ux4g.gov.in · pib.gov.in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</a:pPr>
            <a:r>
              <a:rPr lang="en-US" sz="11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5.  Pai, N. et al. (2014), IMD Pune gridded rainfall 0.25°  </a:t>
            </a:r>
            <a:r>
              <a:rPr lang="en-US" sz="1100" b="1" u="sng" dirty="0">
                <a:solidFill>
                  <a:srgbClr val="FFE08A"/>
                </a:solidFill>
                <a:latin typeface="Arial"/>
                <a:ea typeface="Arial"/>
                <a:cs typeface="Arial"/>
              </a:rPr>
              <a:t>published dataset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</a:pPr>
            <a:r>
              <a:rPr lang="en-US" sz="11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6.  Mausam app: existing Damini lightning + Meghdoot crop modules  </a:t>
            </a:r>
            <a:r>
              <a:rPr lang="en-US" sz="1100" b="1" u="sng" dirty="0">
                <a:solidFill>
                  <a:srgbClr val="FFE08A"/>
                </a:solidFill>
                <a:latin typeface="Arial"/>
                <a:ea typeface="Arial"/>
                <a:cs typeface="Arial"/>
              </a:rPr>
              <a:t>mausam.imd.gov.in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</a:pPr>
            <a:r>
              <a:rPr lang="en-US" sz="11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7.  Working mock, fixtures, replay tests (32 pass)  </a:t>
            </a:r>
            <a:r>
              <a:rPr lang="en-US" sz="1100" b="1" u="sng" dirty="0">
                <a:solidFill>
                  <a:srgbClr val="FFE08A"/>
                </a:solidFill>
                <a:latin typeface="Arial"/>
                <a:ea typeface="Arial"/>
                <a:cs typeface="Arial"/>
              </a:rPr>
              <a:t>Mausam/docs/evidence (illustrative)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</a:pPr>
            <a:r>
              <a:rPr lang="en-US" sz="11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8.  Live demo – deployed PWA, guest-first, works offline  </a:t>
            </a:r>
            <a:r>
              <a:rPr lang="en-US" sz="1100" b="1" u="sng" dirty="0">
                <a:solidFill>
                  <a:srgbClr val="FFE08A"/>
                </a:solidFill>
                <a:latin typeface="Arial"/>
                <a:ea typeface="Arial"/>
                <a:cs typeface="Arial"/>
              </a:rPr>
              <a:t>mausam-sih26076-devanshdhangar70-7520s-projects.vercel.app/</a:t>
            </a:r>
          </a:p>
        </p:txBody>
      </p:sp>
      <p:sp>
        <p:nvSpPr>
          <p:cNvPr id="17420" name="chip"/>
          <p:cNvSpPr>
            <a:spLocks noChangeAspect="0"/>
          </p:cNvSpPr>
          <p:nvPr/>
        </p:nvSpPr>
        <p:spPr>
          <a:xfrm>
            <a:off x="612648" y="5431536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2E9E4F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2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REFERENCES</a:t>
            </a:r>
          </a:p>
        </p:txBody>
      </p:sp>
      <p:sp>
        <p:nvSpPr>
          <p:cNvPr id="17421" name="note"/>
          <p:cNvSpPr>
            <a:spLocks noChangeAspect="0"/>
          </p:cNvSpPr>
          <p:nvPr/>
        </p:nvSpPr>
        <p:spPr>
          <a:xfrm>
            <a:off x="3063240" y="5468112"/>
            <a:ext cx="8503920" cy="365760"/>
          </a:xfrm>
          <a:prstGeom prst="rect">
            <a:avLst/>
          </a:prstGeom>
          <a:noFill/>
          <a:ln>
            <a:noFill/>
          </a:ln>
        </p:spPr>
        <p:txBody>
          <a:bodyPr anchor="t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050" dirty="0">
                <a:solidFill>
                  <a:srgbClr val="1A1A1A"/>
                </a:solidFill>
                <a:latin typeface="Arial"/>
                <a:ea typeface="Arial"/>
                <a:cs typeface="Arial"/>
              </a:rPr>
              <a:t>Official, verifiable sources; local mock paths are labelled (illustrative). No fabricated statistics.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